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9E86"/>
    <a:srgbClr val="96503C"/>
    <a:srgbClr val="EAE9EF"/>
    <a:srgbClr val="E7EBEF"/>
    <a:srgbClr val="7C240B"/>
    <a:srgbClr val="B53333"/>
    <a:srgbClr val="A20000"/>
    <a:srgbClr val="993300"/>
    <a:srgbClr val="A50021"/>
    <a:srgbClr val="99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992CC0-8A82-4845-9F28-CBFFF6CB3AB0}" v="27" dt="2026-03-12T19:36:18.974"/>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683"/>
    <p:restoredTop sz="94660"/>
  </p:normalViewPr>
  <p:slideViewPr>
    <p:cSldViewPr snapToGrid="0">
      <p:cViewPr>
        <p:scale>
          <a:sx n="33" d="100"/>
          <a:sy n="33" d="100"/>
        </p:scale>
        <p:origin x="304" y="-59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iya Desai [CSE - 2024]" userId="f92d40ab-5a36-47e5-a5da-2dbff67432a3" providerId="ADAL" clId="{CAF839E9-6BCE-447A-9313-D434611F446A}"/>
    <pc:docChg chg="undo custSel modSld">
      <pc:chgData name="Shriya Desai [CSE - 2024]" userId="f92d40ab-5a36-47e5-a5da-2dbff67432a3" providerId="ADAL" clId="{CAF839E9-6BCE-447A-9313-D434611F446A}" dt="2026-03-12T19:38:38.893" v="2145" actId="14100"/>
      <pc:docMkLst>
        <pc:docMk/>
      </pc:docMkLst>
      <pc:sldChg chg="addSp delSp modSp mod">
        <pc:chgData name="Shriya Desai [CSE - 2024]" userId="f92d40ab-5a36-47e5-a5da-2dbff67432a3" providerId="ADAL" clId="{CAF839E9-6BCE-447A-9313-D434611F446A}" dt="2026-03-12T19:38:38.893" v="2145" actId="14100"/>
        <pc:sldMkLst>
          <pc:docMk/>
          <pc:sldMk cId="1035840464" sldId="256"/>
        </pc:sldMkLst>
        <pc:spChg chg="add del mod">
          <ac:chgData name="Shriya Desai [CSE - 2024]" userId="f92d40ab-5a36-47e5-a5da-2dbff67432a3" providerId="ADAL" clId="{CAF839E9-6BCE-447A-9313-D434611F446A}" dt="2026-03-12T15:25:21.174" v="16"/>
          <ac:spMkLst>
            <pc:docMk/>
            <pc:sldMk cId="1035840464" sldId="256"/>
            <ac:spMk id="2" creationId="{0F0E3005-5E53-817B-CC08-4EC21F4628ED}"/>
          </ac:spMkLst>
        </pc:spChg>
        <pc:spChg chg="add mod">
          <ac:chgData name="Shriya Desai [CSE - 2024]" userId="f92d40ab-5a36-47e5-a5da-2dbff67432a3" providerId="ADAL" clId="{CAF839E9-6BCE-447A-9313-D434611F446A}" dt="2026-03-12T19:19:03.808" v="2042" actId="1076"/>
          <ac:spMkLst>
            <pc:docMk/>
            <pc:sldMk cId="1035840464" sldId="256"/>
            <ac:spMk id="2" creationId="{36730445-C39C-1A54-5CCD-441E4AFE5B07}"/>
          </ac:spMkLst>
        </pc:spChg>
        <pc:spChg chg="mod">
          <ac:chgData name="Shriya Desai [CSE - 2024]" userId="f92d40ab-5a36-47e5-a5da-2dbff67432a3" providerId="ADAL" clId="{CAF839E9-6BCE-447A-9313-D434611F446A}" dt="2026-03-12T17:35:36.797" v="1490" actId="20577"/>
          <ac:spMkLst>
            <pc:docMk/>
            <pc:sldMk cId="1035840464" sldId="256"/>
            <ac:spMk id="9" creationId="{A4D6D61E-753A-39AF-9EC2-D37F52ADABBE}"/>
          </ac:spMkLst>
        </pc:spChg>
        <pc:spChg chg="mod">
          <ac:chgData name="Shriya Desai [CSE - 2024]" userId="f92d40ab-5a36-47e5-a5da-2dbff67432a3" providerId="ADAL" clId="{CAF839E9-6BCE-447A-9313-D434611F446A}" dt="2026-03-12T19:14:27.913" v="1829" actId="20577"/>
          <ac:spMkLst>
            <pc:docMk/>
            <pc:sldMk cId="1035840464" sldId="256"/>
            <ac:spMk id="10" creationId="{441F57B3-3989-0A0F-D51F-CD0EC7837B5B}"/>
          </ac:spMkLst>
        </pc:spChg>
        <pc:spChg chg="mod">
          <ac:chgData name="Shriya Desai [CSE - 2024]" userId="f92d40ab-5a36-47e5-a5da-2dbff67432a3" providerId="ADAL" clId="{CAF839E9-6BCE-447A-9313-D434611F446A}" dt="2026-03-12T19:38:38.893" v="2145" actId="14100"/>
          <ac:spMkLst>
            <pc:docMk/>
            <pc:sldMk cId="1035840464" sldId="256"/>
            <ac:spMk id="12" creationId="{A5E42C12-5825-46BD-E5C5-7388CE231A56}"/>
          </ac:spMkLst>
        </pc:spChg>
        <pc:spChg chg="mod">
          <ac:chgData name="Shriya Desai [CSE - 2024]" userId="f92d40ab-5a36-47e5-a5da-2dbff67432a3" providerId="ADAL" clId="{CAF839E9-6BCE-447A-9313-D434611F446A}" dt="2026-03-12T19:37:00.862" v="2072" actId="1076"/>
          <ac:spMkLst>
            <pc:docMk/>
            <pc:sldMk cId="1035840464" sldId="256"/>
            <ac:spMk id="14" creationId="{FE822C73-AAD2-4670-17BC-4297AEC235DC}"/>
          </ac:spMkLst>
        </pc:spChg>
        <pc:spChg chg="add del mod">
          <ac:chgData name="Shriya Desai [CSE - 2024]" userId="f92d40ab-5a36-47e5-a5da-2dbff67432a3" providerId="ADAL" clId="{CAF839E9-6BCE-447A-9313-D434611F446A}" dt="2026-03-12T15:25:40.234" v="18" actId="478"/>
          <ac:spMkLst>
            <pc:docMk/>
            <pc:sldMk cId="1035840464" sldId="256"/>
            <ac:spMk id="16" creationId="{8B83F757-E82C-ECBF-0472-A97472E6F82E}"/>
          </ac:spMkLst>
        </pc:spChg>
        <pc:spChg chg="mod">
          <ac:chgData name="Shriya Desai [CSE - 2024]" userId="f92d40ab-5a36-47e5-a5da-2dbff67432a3" providerId="ADAL" clId="{CAF839E9-6BCE-447A-9313-D434611F446A}" dt="2026-03-12T15:59:01.768" v="795" actId="113"/>
          <ac:spMkLst>
            <pc:docMk/>
            <pc:sldMk cId="1035840464" sldId="256"/>
            <ac:spMk id="18" creationId="{39089E6E-B1D7-E501-206A-D7E815BE5EAE}"/>
          </ac:spMkLst>
        </pc:spChg>
        <pc:spChg chg="mod">
          <ac:chgData name="Shriya Desai [CSE - 2024]" userId="f92d40ab-5a36-47e5-a5da-2dbff67432a3" providerId="ADAL" clId="{CAF839E9-6BCE-447A-9313-D434611F446A}" dt="2026-03-12T15:59:04.878" v="796" actId="113"/>
          <ac:spMkLst>
            <pc:docMk/>
            <pc:sldMk cId="1035840464" sldId="256"/>
            <ac:spMk id="20" creationId="{508F9FCA-7BA7-17C0-F30C-02517244A415}"/>
          </ac:spMkLst>
        </pc:spChg>
        <pc:spChg chg="mod">
          <ac:chgData name="Shriya Desai [CSE - 2024]" userId="f92d40ab-5a36-47e5-a5da-2dbff67432a3" providerId="ADAL" clId="{CAF839E9-6BCE-447A-9313-D434611F446A}" dt="2026-03-12T18:16:07.168" v="1497" actId="14100"/>
          <ac:spMkLst>
            <pc:docMk/>
            <pc:sldMk cId="1035840464" sldId="256"/>
            <ac:spMk id="21" creationId="{3E13B60F-3309-0FF0-9105-A3D539EF842E}"/>
          </ac:spMkLst>
        </pc:spChg>
        <pc:spChg chg="add mod">
          <ac:chgData name="Shriya Desai [CSE - 2024]" userId="f92d40ab-5a36-47e5-a5da-2dbff67432a3" providerId="ADAL" clId="{CAF839E9-6BCE-447A-9313-D434611F446A}" dt="2026-03-12T18:19:57.230" v="1663" actId="1076"/>
          <ac:spMkLst>
            <pc:docMk/>
            <pc:sldMk cId="1035840464" sldId="256"/>
            <ac:spMk id="23" creationId="{C91206C0-A917-06BC-18E7-2E34F3A75FCC}"/>
          </ac:spMkLst>
        </pc:spChg>
        <pc:spChg chg="add mod">
          <ac:chgData name="Shriya Desai [CSE - 2024]" userId="f92d40ab-5a36-47e5-a5da-2dbff67432a3" providerId="ADAL" clId="{CAF839E9-6BCE-447A-9313-D434611F446A}" dt="2026-03-12T19:19:10.599" v="2043" actId="1076"/>
          <ac:spMkLst>
            <pc:docMk/>
            <pc:sldMk cId="1035840464" sldId="256"/>
            <ac:spMk id="25" creationId="{5B3AD5C5-9556-3EBE-537B-AAF44BFB9339}"/>
          </ac:spMkLst>
        </pc:spChg>
        <pc:spChg chg="add mod">
          <ac:chgData name="Shriya Desai [CSE - 2024]" userId="f92d40ab-5a36-47e5-a5da-2dbff67432a3" providerId="ADAL" clId="{CAF839E9-6BCE-447A-9313-D434611F446A}" dt="2026-03-12T19:18:58.906" v="2041" actId="1076"/>
          <ac:spMkLst>
            <pc:docMk/>
            <pc:sldMk cId="1035840464" sldId="256"/>
            <ac:spMk id="26" creationId="{EC6E9B94-E699-6AD8-26BA-ED31AEB400B4}"/>
          </ac:spMkLst>
        </pc:spChg>
        <pc:spChg chg="add del mod">
          <ac:chgData name="Shriya Desai [CSE - 2024]" userId="f92d40ab-5a36-47e5-a5da-2dbff67432a3" providerId="ADAL" clId="{CAF839E9-6BCE-447A-9313-D434611F446A}" dt="2026-03-12T18:19:38.141" v="1661" actId="478"/>
          <ac:spMkLst>
            <pc:docMk/>
            <pc:sldMk cId="1035840464" sldId="256"/>
            <ac:spMk id="27" creationId="{DEB2FD7A-D840-546E-95BE-9F1957F40629}"/>
          </ac:spMkLst>
        </pc:spChg>
        <pc:spChg chg="add del mod">
          <ac:chgData name="Shriya Desai [CSE - 2024]" userId="f92d40ab-5a36-47e5-a5da-2dbff67432a3" providerId="ADAL" clId="{CAF839E9-6BCE-447A-9313-D434611F446A}" dt="2026-03-12T18:16:35.785" v="1502"/>
          <ac:spMkLst>
            <pc:docMk/>
            <pc:sldMk cId="1035840464" sldId="256"/>
            <ac:spMk id="29" creationId="{82025786-F0E2-52BD-3408-D9B2DE791279}"/>
          </ac:spMkLst>
        </pc:spChg>
        <pc:spChg chg="add mod">
          <ac:chgData name="Shriya Desai [CSE - 2024]" userId="f92d40ab-5a36-47e5-a5da-2dbff67432a3" providerId="ADAL" clId="{CAF839E9-6BCE-447A-9313-D434611F446A}" dt="2026-03-12T19:17:29.313" v="2036" actId="20577"/>
          <ac:spMkLst>
            <pc:docMk/>
            <pc:sldMk cId="1035840464" sldId="256"/>
            <ac:spMk id="30" creationId="{F75E3773-C054-CF10-BE8F-348280515625}"/>
          </ac:spMkLst>
        </pc:spChg>
        <pc:spChg chg="add mod">
          <ac:chgData name="Shriya Desai [CSE - 2024]" userId="f92d40ab-5a36-47e5-a5da-2dbff67432a3" providerId="ADAL" clId="{CAF839E9-6BCE-447A-9313-D434611F446A}" dt="2026-03-12T19:36:56.980" v="2071" actId="1076"/>
          <ac:spMkLst>
            <pc:docMk/>
            <pc:sldMk cId="1035840464" sldId="256"/>
            <ac:spMk id="31" creationId="{1551367D-21A7-2543-24E2-4605F6447BC6}"/>
          </ac:spMkLst>
        </pc:spChg>
        <pc:picChg chg="mod">
          <ac:chgData name="Shriya Desai [CSE - 2024]" userId="f92d40ab-5a36-47e5-a5da-2dbff67432a3" providerId="ADAL" clId="{CAF839E9-6BCE-447A-9313-D434611F446A}" dt="2026-03-12T17:29:58.782" v="1469" actId="1076"/>
          <ac:picMkLst>
            <pc:docMk/>
            <pc:sldMk cId="1035840464" sldId="256"/>
            <ac:picMk id="17" creationId="{FA778DE4-B7B6-6264-E974-949D9B58BB7D}"/>
          </ac:picMkLst>
        </pc:picChg>
        <pc:picChg chg="mod">
          <ac:chgData name="Shriya Desai [CSE - 2024]" userId="f92d40ab-5a36-47e5-a5da-2dbff67432a3" providerId="ADAL" clId="{CAF839E9-6BCE-447A-9313-D434611F446A}" dt="2026-03-12T15:04:35.707" v="5" actId="14100"/>
          <ac:picMkLst>
            <pc:docMk/>
            <pc:sldMk cId="1035840464" sldId="256"/>
            <ac:picMk id="19" creationId="{775E30E8-1756-9802-9C60-7F77DBB166A5}"/>
          </ac:picMkLst>
        </pc:picChg>
        <pc:picChg chg="mod">
          <ac:chgData name="Shriya Desai [CSE - 2024]" userId="f92d40ab-5a36-47e5-a5da-2dbff67432a3" providerId="ADAL" clId="{CAF839E9-6BCE-447A-9313-D434611F446A}" dt="2026-03-12T15:05:21.832" v="12" actId="14100"/>
          <ac:picMkLst>
            <pc:docMk/>
            <pc:sldMk cId="1035840464" sldId="256"/>
            <ac:picMk id="22" creationId="{87899BD7-6071-A4D8-04A6-93C8492FC8F0}"/>
          </ac:picMkLst>
        </pc:picChg>
        <pc:picChg chg="add mod">
          <ac:chgData name="Shriya Desai [CSE - 2024]" userId="f92d40ab-5a36-47e5-a5da-2dbff67432a3" providerId="ADAL" clId="{CAF839E9-6BCE-447A-9313-D434611F446A}" dt="2026-03-12T18:20:19.738" v="1666" actId="1076"/>
          <ac:picMkLst>
            <pc:docMk/>
            <pc:sldMk cId="1035840464" sldId="256"/>
            <ac:picMk id="24" creationId="{FA64B098-66AC-104D-B5E7-ED48159A0FFC}"/>
          </ac:picMkLst>
        </pc:picChg>
        <pc:picChg chg="add mod">
          <ac:chgData name="Shriya Desai [CSE - 2024]" userId="f92d40ab-5a36-47e5-a5da-2dbff67432a3" providerId="ADAL" clId="{CAF839E9-6BCE-447A-9313-D434611F446A}" dt="2026-03-12T17:26:55.469" v="1393" actId="14100"/>
          <ac:picMkLst>
            <pc:docMk/>
            <pc:sldMk cId="1035840464" sldId="256"/>
            <ac:picMk id="28" creationId="{8E1E1083-E2DA-878D-46BC-1719DA21BF39}"/>
          </ac:picMkLst>
        </pc:picChg>
        <pc:picChg chg="del mod">
          <ac:chgData name="Shriya Desai [CSE - 2024]" userId="f92d40ab-5a36-47e5-a5da-2dbff67432a3" providerId="ADAL" clId="{CAF839E9-6BCE-447A-9313-D434611F446A}" dt="2026-03-12T17:26:44.489" v="1390" actId="478"/>
          <ac:picMkLst>
            <pc:docMk/>
            <pc:sldMk cId="1035840464" sldId="256"/>
            <ac:picMk id="1026" creationId="{B0F14FBF-CDCF-3845-3DAD-3FC3D9C1609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64D62D-0261-6B43-89DE-C3E98A5B7ED7}"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2299750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4D62D-0261-6B43-89DE-C3E98A5B7ED7}"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3500974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64D62D-0261-6B43-89DE-C3E98A5B7ED7}"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1371778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64D62D-0261-6B43-89DE-C3E98A5B7ED7}" type="datetimeFigureOut">
              <a:rPr lang="en-GB" smtClean="0"/>
              <a:t>12/03/2026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953489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64D62D-0261-6B43-89DE-C3E98A5B7ED7}" type="datetimeFigureOut">
              <a:rPr lang="en-GB" smtClean="0"/>
              <a:t>12/03/2026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3976030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64D62D-0261-6B43-89DE-C3E98A5B7ED7}" type="datetimeFigureOut">
              <a:rPr lang="en-GB" smtClean="0"/>
              <a:t>12/03/2026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4105058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64D62D-0261-6B43-89DE-C3E98A5B7ED7}" type="datetimeFigureOut">
              <a:rPr lang="en-GB" smtClean="0"/>
              <a:t>12/03/2026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1505326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2464D62D-0261-6B43-89DE-C3E98A5B7ED7}" type="datetimeFigureOut">
              <a:rPr lang="en-GB" smtClean="0"/>
              <a:t>12/03/2026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2675555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2464D62D-0261-6B43-89DE-C3E98A5B7ED7}" type="datetimeFigureOut">
              <a:rPr lang="en-GB" smtClean="0"/>
              <a:t>12/03/2026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4149123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4D62D-0261-6B43-89DE-C3E98A5B7ED7}"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2485176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4D62D-0261-6B43-89DE-C3E98A5B7ED7}"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2FDDA4B-2ABD-7C44-A02A-A5F3B61ABF33}" type="slidenum">
              <a:rPr lang="en-GB" smtClean="0"/>
              <a:t>‹#›</a:t>
            </a:fld>
            <a:endParaRPr lang="en-GB"/>
          </a:p>
        </p:txBody>
      </p:sp>
    </p:spTree>
    <p:extLst>
      <p:ext uri="{BB962C8B-B14F-4D97-AF65-F5344CB8AC3E}">
        <p14:creationId xmlns:p14="http://schemas.microsoft.com/office/powerpoint/2010/main" val="235649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2464D62D-0261-6B43-89DE-C3E98A5B7ED7}" type="datetimeFigureOut">
              <a:rPr lang="en-GB" smtClean="0"/>
              <a:t>12/03/2026</a:t>
            </a:fld>
            <a:endParaRPr lang="en-GB"/>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12FDDA4B-2ABD-7C44-A02A-A5F3B61ABF33}" type="slidenum">
              <a:rPr lang="en-GB" smtClean="0"/>
              <a:t>‹#›</a:t>
            </a:fld>
            <a:endParaRPr lang="en-GB"/>
          </a:p>
        </p:txBody>
      </p:sp>
    </p:spTree>
    <p:extLst>
      <p:ext uri="{BB962C8B-B14F-4D97-AF65-F5344CB8AC3E}">
        <p14:creationId xmlns:p14="http://schemas.microsoft.com/office/powerpoint/2010/main" val="29231023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hyperlink" Target="https://doi.org/10.1145/3731599.3767580"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https://doi.org/10.1126/science.aag2302" TargetMode="External"/><Relationship Id="rId5" Type="http://schemas.openxmlformats.org/officeDocument/2006/relationships/image" Target="../media/image4.jpeg"/><Relationship Id="rId10" Type="http://schemas.openxmlformats.org/officeDocument/2006/relationships/hyperlink" Target="https://www.spinquanta.com/news-detail/spinq-quantum-artificial-intelligence-lab-research-project-overview" TargetMode="External"/><Relationship Id="rId4" Type="http://schemas.openxmlformats.org/officeDocument/2006/relationships/image" Target="../media/image3.jpeg"/><Relationship Id="rId9" Type="http://schemas.openxmlformats.org/officeDocument/2006/relationships/hyperlink" Target="https://doi.org/10.1145/376313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7435EE7-6D3C-E36F-EC09-A8B6A55CEF85}"/>
              </a:ext>
            </a:extLst>
          </p:cNvPr>
          <p:cNvSpPr/>
          <p:nvPr/>
        </p:nvSpPr>
        <p:spPr>
          <a:xfrm>
            <a:off x="29542772" y="5628108"/>
            <a:ext cx="716398" cy="35234107"/>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55"/>
          </a:p>
        </p:txBody>
      </p:sp>
      <p:sp>
        <p:nvSpPr>
          <p:cNvPr id="6" name="Rectangle 5">
            <a:extLst>
              <a:ext uri="{FF2B5EF4-FFF2-40B4-BE49-F238E27FC236}">
                <a16:creationId xmlns:a16="http://schemas.microsoft.com/office/drawing/2014/main" id="{49B64AE7-DD4E-FFB1-00B8-E9EDFCF9DFC7}"/>
              </a:ext>
            </a:extLst>
          </p:cNvPr>
          <p:cNvSpPr/>
          <p:nvPr/>
        </p:nvSpPr>
        <p:spPr>
          <a:xfrm>
            <a:off x="1" y="5637991"/>
            <a:ext cx="716398" cy="35208180"/>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55"/>
          </a:p>
        </p:txBody>
      </p:sp>
      <p:sp>
        <p:nvSpPr>
          <p:cNvPr id="4" name="Rectangle 3">
            <a:extLst>
              <a:ext uri="{FF2B5EF4-FFF2-40B4-BE49-F238E27FC236}">
                <a16:creationId xmlns:a16="http://schemas.microsoft.com/office/drawing/2014/main" id="{C28E4562-D198-6D5D-A3B2-73C31ECD0352}"/>
              </a:ext>
            </a:extLst>
          </p:cNvPr>
          <p:cNvSpPr/>
          <p:nvPr/>
        </p:nvSpPr>
        <p:spPr>
          <a:xfrm>
            <a:off x="-1" y="6827"/>
            <a:ext cx="30275213" cy="58868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55" dirty="0">
              <a:solidFill>
                <a:srgbClr val="7C240B"/>
              </a:solidFill>
            </a:endParaRPr>
          </a:p>
        </p:txBody>
      </p:sp>
      <p:sp>
        <p:nvSpPr>
          <p:cNvPr id="5" name="Rectangle 4">
            <a:extLst>
              <a:ext uri="{FF2B5EF4-FFF2-40B4-BE49-F238E27FC236}">
                <a16:creationId xmlns:a16="http://schemas.microsoft.com/office/drawing/2014/main" id="{118FD8AF-0934-F726-0E2B-C7D9C2424485}"/>
              </a:ext>
            </a:extLst>
          </p:cNvPr>
          <p:cNvSpPr/>
          <p:nvPr/>
        </p:nvSpPr>
        <p:spPr>
          <a:xfrm>
            <a:off x="-1" y="40859242"/>
            <a:ext cx="30275213" cy="1953686"/>
          </a:xfrm>
          <a:prstGeom prst="rect">
            <a:avLst/>
          </a:prstGeom>
          <a:solidFill>
            <a:srgbClr val="F59E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55"/>
          </a:p>
        </p:txBody>
      </p:sp>
      <p:sp>
        <p:nvSpPr>
          <p:cNvPr id="9" name="Text Box 122">
            <a:extLst>
              <a:ext uri="{FF2B5EF4-FFF2-40B4-BE49-F238E27FC236}">
                <a16:creationId xmlns:a16="http://schemas.microsoft.com/office/drawing/2014/main" id="{A4D6D61E-753A-39AF-9EC2-D37F52ADABBE}"/>
              </a:ext>
            </a:extLst>
          </p:cNvPr>
          <p:cNvSpPr txBox="1">
            <a:spLocks noChangeArrowheads="1"/>
          </p:cNvSpPr>
          <p:nvPr/>
        </p:nvSpPr>
        <p:spPr bwMode="auto">
          <a:xfrm>
            <a:off x="4955069" y="684670"/>
            <a:ext cx="21403814" cy="2508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4594" tIns="236486" rIns="94594" bIns="236486"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a:r>
              <a:rPr lang="en-IN" sz="6600" b="1" dirty="0"/>
              <a:t>AI-Assisted Quantum Simulation &amp; Modelling with   Salesforce </a:t>
            </a:r>
            <a:r>
              <a:rPr lang="en-IN" sz="6600" b="1" dirty="0" err="1"/>
              <a:t>Agentforce</a:t>
            </a:r>
            <a:endParaRPr lang="en-IN" sz="6600" dirty="0"/>
          </a:p>
        </p:txBody>
      </p:sp>
      <p:sp>
        <p:nvSpPr>
          <p:cNvPr id="10" name="Text Box 123">
            <a:extLst>
              <a:ext uri="{FF2B5EF4-FFF2-40B4-BE49-F238E27FC236}">
                <a16:creationId xmlns:a16="http://schemas.microsoft.com/office/drawing/2014/main" id="{441F57B3-3989-0A0F-D51F-CD0EC7837B5B}"/>
              </a:ext>
            </a:extLst>
          </p:cNvPr>
          <p:cNvSpPr txBox="1">
            <a:spLocks noChangeArrowheads="1"/>
          </p:cNvSpPr>
          <p:nvPr/>
        </p:nvSpPr>
        <p:spPr bwMode="auto">
          <a:xfrm>
            <a:off x="3178088" y="3592758"/>
            <a:ext cx="24216794" cy="172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4594" tIns="94594" rIns="94594" bIns="94594"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3679" b="1" u="sng" dirty="0">
                <a:latin typeface="Times New Roman" panose="02020603050405020304" pitchFamily="18" charset="0"/>
                <a:cs typeface="Times New Roman" panose="02020603050405020304" pitchFamily="18" charset="0"/>
              </a:rPr>
              <a:t>Shriya Desai</a:t>
            </a:r>
            <a:r>
              <a:rPr lang="en-US" sz="3679" b="1" dirty="0">
                <a:latin typeface="Times New Roman" panose="02020603050405020304" pitchFamily="18" charset="0"/>
                <a:cs typeface="Times New Roman" panose="02020603050405020304" pitchFamily="18" charset="0"/>
              </a:rPr>
              <a:t>, Dr. Ankit Shrivastava, Dr. Arpita </a:t>
            </a:r>
            <a:r>
              <a:rPr lang="en-US" sz="3679" b="1" dirty="0" err="1">
                <a:latin typeface="Times New Roman" panose="02020603050405020304" pitchFamily="18" charset="0"/>
                <a:cs typeface="Times New Roman" panose="02020603050405020304" pitchFamily="18" charset="0"/>
              </a:rPr>
              <a:t>Baronia</a:t>
            </a:r>
            <a:r>
              <a:rPr lang="en-US" sz="3679" b="1" dirty="0">
                <a:latin typeface="Times New Roman" panose="02020603050405020304" pitchFamily="18" charset="0"/>
                <a:cs typeface="Times New Roman" panose="02020603050405020304" pitchFamily="18" charset="0"/>
              </a:rPr>
              <a:t> </a:t>
            </a:r>
          </a:p>
          <a:p>
            <a:pPr algn="ctr" eaLnBrk="1" hangingPunct="1"/>
            <a:r>
              <a:rPr lang="en-US" sz="6600" baseline="30000" dirty="0">
                <a:latin typeface="Times New Roman" panose="02020603050405020304" pitchFamily="18" charset="0"/>
                <a:cs typeface="Times New Roman" panose="02020603050405020304" pitchFamily="18" charset="0"/>
              </a:rPr>
              <a:t>Manipal University Jaipur, Jaipur, India</a:t>
            </a:r>
            <a:endParaRPr lang="en-US" sz="3679" dirty="0">
              <a:latin typeface="Times New Roman" panose="02020603050405020304" pitchFamily="18" charset="0"/>
              <a:cs typeface="Times New Roman" panose="02020603050405020304" pitchFamily="18" charset="0"/>
            </a:endParaRPr>
          </a:p>
          <a:p>
            <a:pPr algn="ctr" eaLnBrk="1" hangingPunct="1"/>
            <a:r>
              <a:rPr lang="en-US" sz="3679" dirty="0">
                <a:latin typeface="Times New Roman" panose="02020603050405020304" pitchFamily="18" charset="0"/>
                <a:cs typeface="Times New Roman" panose="02020603050405020304" pitchFamily="18" charset="0"/>
              </a:rPr>
              <a:t>Corresponding Author Email: </a:t>
            </a:r>
          </a:p>
          <a:p>
            <a:pPr algn="ctr" eaLnBrk="1" hangingPunct="1"/>
            <a:r>
              <a:rPr lang="en-US" sz="3679" dirty="0">
                <a:latin typeface="Times New Roman" panose="02020603050405020304" pitchFamily="18" charset="0"/>
                <a:cs typeface="Times New Roman" panose="02020603050405020304" pitchFamily="18" charset="0"/>
              </a:rPr>
              <a:t>shriya.2427030171@muj.manipal.edu</a:t>
            </a:r>
          </a:p>
          <a:p>
            <a:pPr algn="ctr" eaLnBrk="1" hangingPunct="1"/>
            <a:endParaRPr lang="en-US" sz="3679"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5E42C12-5825-46BD-E5C5-7388CE231A56}"/>
              </a:ext>
            </a:extLst>
          </p:cNvPr>
          <p:cNvSpPr txBox="1"/>
          <p:nvPr/>
        </p:nvSpPr>
        <p:spPr>
          <a:xfrm>
            <a:off x="271723" y="40831381"/>
            <a:ext cx="7996788" cy="1916154"/>
          </a:xfrm>
          <a:prstGeom prst="rect">
            <a:avLst/>
          </a:prstGeom>
          <a:noFill/>
        </p:spPr>
        <p:txBody>
          <a:bodyPr wrap="square" lIns="47297" tIns="23648" rIns="47297" bIns="23648" rtlCol="0">
            <a:spAutoFit/>
          </a:bodyPr>
          <a:lstStyle/>
          <a:p>
            <a:r>
              <a:rPr lang="en-US" sz="4047" b="1" dirty="0"/>
              <a:t>Contact</a:t>
            </a:r>
          </a:p>
          <a:p>
            <a:r>
              <a:rPr lang="en-US" sz="4047" dirty="0"/>
              <a:t>Shriya Desai – 7020737036</a:t>
            </a:r>
          </a:p>
          <a:p>
            <a:r>
              <a:rPr lang="en-US" sz="4047" dirty="0"/>
              <a:t>Dr. Ankit Shrivastava - 7726926244</a:t>
            </a:r>
          </a:p>
        </p:txBody>
      </p:sp>
      <p:sp>
        <p:nvSpPr>
          <p:cNvPr id="14" name="TextBox 13">
            <a:extLst>
              <a:ext uri="{FF2B5EF4-FFF2-40B4-BE49-F238E27FC236}">
                <a16:creationId xmlns:a16="http://schemas.microsoft.com/office/drawing/2014/main" id="{FE822C73-AAD2-4670-17BC-4297AEC235DC}"/>
              </a:ext>
            </a:extLst>
          </p:cNvPr>
          <p:cNvSpPr txBox="1"/>
          <p:nvPr/>
        </p:nvSpPr>
        <p:spPr>
          <a:xfrm>
            <a:off x="7170096" y="40837570"/>
            <a:ext cx="2786704" cy="670557"/>
          </a:xfrm>
          <a:prstGeom prst="rect">
            <a:avLst/>
          </a:prstGeom>
          <a:noFill/>
        </p:spPr>
        <p:txBody>
          <a:bodyPr wrap="none" lIns="47297" tIns="23648" rIns="47297" bIns="23648" rtlCol="0">
            <a:spAutoFit/>
          </a:bodyPr>
          <a:lstStyle/>
          <a:p>
            <a:r>
              <a:rPr lang="en-US" sz="4047" b="1" dirty="0"/>
              <a:t>References</a:t>
            </a:r>
          </a:p>
        </p:txBody>
      </p:sp>
      <p:sp>
        <p:nvSpPr>
          <p:cNvPr id="41" name="TextBox 40">
            <a:extLst>
              <a:ext uri="{FF2B5EF4-FFF2-40B4-BE49-F238E27FC236}">
                <a16:creationId xmlns:a16="http://schemas.microsoft.com/office/drawing/2014/main" id="{16823B4E-A1A1-4236-02EE-9F2A852962CC}"/>
              </a:ext>
            </a:extLst>
          </p:cNvPr>
          <p:cNvSpPr txBox="1"/>
          <p:nvPr/>
        </p:nvSpPr>
        <p:spPr>
          <a:xfrm>
            <a:off x="716399" y="4394933"/>
            <a:ext cx="3679230" cy="941476"/>
          </a:xfrm>
          <a:prstGeom prst="rect">
            <a:avLst/>
          </a:prstGeom>
          <a:noFill/>
        </p:spPr>
        <p:txBody>
          <a:bodyPr wrap="square" rtlCol="0">
            <a:spAutoFit/>
          </a:bodyPr>
          <a:lstStyle/>
          <a:p>
            <a:pPr algn="ctr"/>
            <a:r>
              <a:rPr lang="en-GB" sz="5518" b="1" dirty="0"/>
              <a:t>2026</a:t>
            </a:r>
          </a:p>
        </p:txBody>
      </p:sp>
      <p:cxnSp>
        <p:nvCxnSpPr>
          <p:cNvPr id="3" name="Straight Connector 2">
            <a:extLst>
              <a:ext uri="{FF2B5EF4-FFF2-40B4-BE49-F238E27FC236}">
                <a16:creationId xmlns:a16="http://schemas.microsoft.com/office/drawing/2014/main" id="{ECADF22D-D237-ACF0-9736-F43D0757BD75}"/>
              </a:ext>
            </a:extLst>
          </p:cNvPr>
          <p:cNvCxnSpPr/>
          <p:nvPr/>
        </p:nvCxnSpPr>
        <p:spPr>
          <a:xfrm flipV="1">
            <a:off x="79551" y="5615041"/>
            <a:ext cx="30147535" cy="0"/>
          </a:xfrm>
          <a:prstGeom prst="line">
            <a:avLst/>
          </a:prstGeom>
          <a:ln w="88900"/>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55F24016-12C4-FC85-BEF5-D6E4ECCBE5D5}"/>
              </a:ext>
            </a:extLst>
          </p:cNvPr>
          <p:cNvSpPr txBox="1"/>
          <p:nvPr/>
        </p:nvSpPr>
        <p:spPr>
          <a:xfrm>
            <a:off x="79551" y="110659"/>
            <a:ext cx="30275213" cy="923330"/>
          </a:xfrm>
          <a:prstGeom prst="rect">
            <a:avLst/>
          </a:prstGeom>
          <a:solidFill>
            <a:srgbClr val="F59E86"/>
          </a:solidFill>
        </p:spPr>
        <p:txBody>
          <a:bodyPr wrap="square" rtlCol="0">
            <a:spAutoFit/>
          </a:bodyPr>
          <a:lstStyle/>
          <a:p>
            <a:r>
              <a:rPr lang="en-US" b="1" dirty="0"/>
              <a:t> </a:t>
            </a:r>
            <a:endParaRPr lang="en-IN" dirty="0"/>
          </a:p>
          <a:p>
            <a:pPr algn="ctr"/>
            <a:r>
              <a:rPr lang="en-IN" sz="3600" b="1" dirty="0">
                <a:latin typeface="Palatino Linotype" panose="02040502050505030304" pitchFamily="18" charset="0"/>
              </a:rPr>
              <a:t>International Conference</a:t>
            </a:r>
            <a:r>
              <a:rPr lang="en-IN" sz="3600" dirty="0">
                <a:latin typeface="Palatino Linotype" panose="02040502050505030304" pitchFamily="18" charset="0"/>
              </a:rPr>
              <a:t> </a:t>
            </a:r>
            <a:r>
              <a:rPr lang="en-IN" sz="3600" b="1" dirty="0">
                <a:latin typeface="Palatino Linotype" panose="02040502050505030304" pitchFamily="18" charset="0"/>
              </a:rPr>
              <a:t>On  Materials for Electronics, Energy, Quantum and Biomedical Technologies   (MQUBIT 2026)</a:t>
            </a:r>
            <a:endParaRPr lang="en-IN" sz="3600" dirty="0">
              <a:latin typeface="Palatino Linotype" panose="02040502050505030304" pitchFamily="18" charset="0"/>
            </a:endParaRPr>
          </a:p>
        </p:txBody>
      </p:sp>
      <p:pic>
        <p:nvPicPr>
          <p:cNvPr id="11" name="Picture 10">
            <a:extLst>
              <a:ext uri="{FF2B5EF4-FFF2-40B4-BE49-F238E27FC236}">
                <a16:creationId xmlns:a16="http://schemas.microsoft.com/office/drawing/2014/main" id="{B564947C-F4EE-07B0-EA56-D47A5B760EFB}"/>
              </a:ext>
            </a:extLst>
          </p:cNvPr>
          <p:cNvPicPr>
            <a:picLocks noChangeAspect="1"/>
          </p:cNvPicPr>
          <p:nvPr/>
        </p:nvPicPr>
        <p:blipFill>
          <a:blip r:embed="rId2"/>
          <a:stretch>
            <a:fillRect/>
          </a:stretch>
        </p:blipFill>
        <p:spPr>
          <a:xfrm>
            <a:off x="79551" y="1168537"/>
            <a:ext cx="4795966" cy="3197310"/>
          </a:xfrm>
          <a:prstGeom prst="rect">
            <a:avLst/>
          </a:prstGeom>
        </p:spPr>
      </p:pic>
      <p:pic>
        <p:nvPicPr>
          <p:cNvPr id="13" name="Picture 12">
            <a:extLst>
              <a:ext uri="{FF2B5EF4-FFF2-40B4-BE49-F238E27FC236}">
                <a16:creationId xmlns:a16="http://schemas.microsoft.com/office/drawing/2014/main" id="{C6C527C5-7D4E-E11A-1F4F-5712A9FFF1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26728309" y="1169236"/>
            <a:ext cx="2767952" cy="2388361"/>
          </a:xfrm>
          <a:prstGeom prst="rect">
            <a:avLst/>
          </a:prstGeom>
          <a:noFill/>
        </p:spPr>
      </p:pic>
      <p:sp>
        <p:nvSpPr>
          <p:cNvPr id="15" name="TextBox 14">
            <a:extLst>
              <a:ext uri="{FF2B5EF4-FFF2-40B4-BE49-F238E27FC236}">
                <a16:creationId xmlns:a16="http://schemas.microsoft.com/office/drawing/2014/main" id="{CD0A5C1E-3762-D85F-1BC4-939E4DA89602}"/>
              </a:ext>
            </a:extLst>
          </p:cNvPr>
          <p:cNvSpPr txBox="1"/>
          <p:nvPr/>
        </p:nvSpPr>
        <p:spPr>
          <a:xfrm>
            <a:off x="3178088" y="4419871"/>
            <a:ext cx="4302343" cy="941476"/>
          </a:xfrm>
          <a:prstGeom prst="rect">
            <a:avLst/>
          </a:prstGeom>
          <a:noFill/>
        </p:spPr>
        <p:txBody>
          <a:bodyPr wrap="square" rtlCol="0">
            <a:spAutoFit/>
          </a:bodyPr>
          <a:lstStyle/>
          <a:p>
            <a:pPr algn="ctr"/>
            <a:r>
              <a:rPr lang="en-GB" sz="5518" b="1" dirty="0"/>
              <a:t>Abs ID: 445 </a:t>
            </a:r>
          </a:p>
        </p:txBody>
      </p:sp>
      <p:pic>
        <p:nvPicPr>
          <p:cNvPr id="17" name="Picture 16">
            <a:extLst>
              <a:ext uri="{FF2B5EF4-FFF2-40B4-BE49-F238E27FC236}">
                <a16:creationId xmlns:a16="http://schemas.microsoft.com/office/drawing/2014/main" id="{FA778DE4-B7B6-6264-E974-949D9B58BB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547581" y="4185588"/>
            <a:ext cx="5648081" cy="1040154"/>
          </a:xfrm>
          <a:prstGeom prst="rect">
            <a:avLst/>
          </a:prstGeom>
        </p:spPr>
      </p:pic>
      <p:sp>
        <p:nvSpPr>
          <p:cNvPr id="18" name="TextBox 17">
            <a:extLst>
              <a:ext uri="{FF2B5EF4-FFF2-40B4-BE49-F238E27FC236}">
                <a16:creationId xmlns:a16="http://schemas.microsoft.com/office/drawing/2014/main" id="{39089E6E-B1D7-E501-206A-D7E815BE5EAE}"/>
              </a:ext>
            </a:extLst>
          </p:cNvPr>
          <p:cNvSpPr txBox="1"/>
          <p:nvPr/>
        </p:nvSpPr>
        <p:spPr>
          <a:xfrm>
            <a:off x="18414720" y="5752354"/>
            <a:ext cx="10667081" cy="5093702"/>
          </a:xfrm>
          <a:prstGeom prst="rect">
            <a:avLst/>
          </a:prstGeom>
          <a:noFill/>
        </p:spPr>
        <p:txBody>
          <a:bodyPr wrap="square" rtlCol="0">
            <a:spAutoFit/>
          </a:bodyPr>
          <a:lstStyle/>
          <a:p>
            <a:r>
              <a:rPr lang="en-US" sz="4500" b="1" dirty="0"/>
              <a:t>Introduction</a:t>
            </a:r>
          </a:p>
          <a:p>
            <a:r>
              <a:rPr lang="en-US" sz="3500" dirty="0"/>
              <a:t>To find solutions to the many-body Schrodinger equation or model quantum dynamics and compute electronic structure or molecular properties is very complex and requires a lot of time and effort. </a:t>
            </a:r>
          </a:p>
          <a:p>
            <a:r>
              <a:rPr lang="en-US" sz="3500" dirty="0"/>
              <a:t>Quantum simulation has proved to be an indispensable tool, which helps maximize the research.</a:t>
            </a:r>
          </a:p>
          <a:p>
            <a:r>
              <a:rPr lang="en-US" sz="3500" dirty="0"/>
              <a:t>However, many challenges still need to be overcome.</a:t>
            </a:r>
            <a:endParaRPr lang="en-IN" sz="3500" dirty="0"/>
          </a:p>
        </p:txBody>
      </p:sp>
      <p:pic>
        <p:nvPicPr>
          <p:cNvPr id="19" name="Picture 18" descr="Scientific diagram contrasting traditional quantum spin simulations with AI surrogate accelerated quantum simulations.">
            <a:extLst>
              <a:ext uri="{FF2B5EF4-FFF2-40B4-BE49-F238E27FC236}">
                <a16:creationId xmlns:a16="http://schemas.microsoft.com/office/drawing/2014/main" id="{775E30E8-1756-9802-9C60-7F77DBB166A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auto">
          <a:xfrm>
            <a:off x="18375868" y="10992760"/>
            <a:ext cx="10460078" cy="8941758"/>
          </a:xfrm>
          <a:prstGeom prst="rect">
            <a:avLst/>
          </a:prstGeom>
          <a:noFill/>
        </p:spPr>
      </p:pic>
      <p:sp>
        <p:nvSpPr>
          <p:cNvPr id="20" name="TextBox 19">
            <a:extLst>
              <a:ext uri="{FF2B5EF4-FFF2-40B4-BE49-F238E27FC236}">
                <a16:creationId xmlns:a16="http://schemas.microsoft.com/office/drawing/2014/main" id="{508F9FCA-7BA7-17C0-F30C-02517244A415}"/>
              </a:ext>
            </a:extLst>
          </p:cNvPr>
          <p:cNvSpPr txBox="1"/>
          <p:nvPr/>
        </p:nvSpPr>
        <p:spPr>
          <a:xfrm>
            <a:off x="1110095" y="15325055"/>
            <a:ext cx="17035288" cy="4016484"/>
          </a:xfrm>
          <a:prstGeom prst="rect">
            <a:avLst/>
          </a:prstGeom>
          <a:noFill/>
        </p:spPr>
        <p:txBody>
          <a:bodyPr wrap="square" rtlCol="0">
            <a:spAutoFit/>
          </a:bodyPr>
          <a:lstStyle/>
          <a:p>
            <a:r>
              <a:rPr lang="en-US" sz="4500" b="1" dirty="0"/>
              <a:t>Solution</a:t>
            </a:r>
          </a:p>
          <a:p>
            <a:r>
              <a:rPr lang="en-US" sz="3500" dirty="0"/>
              <a:t>Traditional Quantum Simulation workflows can be integrated with AI/ML to revolutionize the field.</a:t>
            </a:r>
          </a:p>
          <a:p>
            <a:r>
              <a:rPr lang="en-US" sz="3500" dirty="0"/>
              <a:t>ML surrogate models, based on Graph Neural Networks(GNNs) can screen parameters to only allow simulation of promising candidates. It predicts quantum properties and solutions in new scenarios and is trained on pre-existing sets of experimental or simulated results.</a:t>
            </a:r>
            <a:endParaRPr lang="en-IN" sz="3500" dirty="0"/>
          </a:p>
        </p:txBody>
      </p:sp>
      <p:sp>
        <p:nvSpPr>
          <p:cNvPr id="21" name="TextBox 20">
            <a:extLst>
              <a:ext uri="{FF2B5EF4-FFF2-40B4-BE49-F238E27FC236}">
                <a16:creationId xmlns:a16="http://schemas.microsoft.com/office/drawing/2014/main" id="{3E13B60F-3309-0FF0-9105-A3D539EF842E}"/>
              </a:ext>
            </a:extLst>
          </p:cNvPr>
          <p:cNvSpPr txBox="1"/>
          <p:nvPr/>
        </p:nvSpPr>
        <p:spPr>
          <a:xfrm>
            <a:off x="946884" y="19361341"/>
            <a:ext cx="22637016" cy="3477875"/>
          </a:xfrm>
          <a:prstGeom prst="rect">
            <a:avLst/>
          </a:prstGeom>
          <a:noFill/>
        </p:spPr>
        <p:txBody>
          <a:bodyPr wrap="square" rtlCol="0">
            <a:spAutoFit/>
          </a:bodyPr>
          <a:lstStyle/>
          <a:p>
            <a:r>
              <a:rPr lang="en-US" sz="4500" b="1" dirty="0"/>
              <a:t>Objectives</a:t>
            </a:r>
          </a:p>
          <a:p>
            <a:pPr marL="685800" indent="-685800">
              <a:buFont typeface="Arial" panose="020B0604020202020204" pitchFamily="34" charset="0"/>
              <a:buChar char="•"/>
            </a:pPr>
            <a:r>
              <a:rPr lang="en-IN" sz="3500" dirty="0"/>
              <a:t>Demonstrating power of AI/ML in optimization of quantum simulations by reducing computational cost.</a:t>
            </a:r>
          </a:p>
          <a:p>
            <a:pPr marL="685800" indent="-685800">
              <a:buFont typeface="Arial" panose="020B0604020202020204" pitchFamily="34" charset="0"/>
              <a:buChar char="•"/>
            </a:pPr>
            <a:r>
              <a:rPr lang="en-IN" sz="3500" dirty="0"/>
              <a:t>Integrating an agentic AI to convert scientific workflows into conversational interactions for scientists.</a:t>
            </a:r>
          </a:p>
          <a:p>
            <a:pPr marL="685800" indent="-685800">
              <a:buFont typeface="Arial" panose="020B0604020202020204" pitchFamily="34" charset="0"/>
              <a:buChar char="•"/>
            </a:pPr>
            <a:r>
              <a:rPr lang="en-IN" sz="3500" dirty="0"/>
              <a:t>Allowing students or non-experts to run quantum simulations without in depth numerical or coding knowledge.</a:t>
            </a:r>
          </a:p>
          <a:p>
            <a:pPr marL="685800" indent="-685800">
              <a:buFont typeface="Arial" panose="020B0604020202020204" pitchFamily="34" charset="0"/>
              <a:buChar char="•"/>
            </a:pPr>
            <a:r>
              <a:rPr lang="en-IN" sz="3500" dirty="0"/>
              <a:t>Creating a blueprint for future agentic AI assisted scientific workflows.</a:t>
            </a:r>
          </a:p>
          <a:p>
            <a:pPr marL="685800" indent="-685800">
              <a:buFont typeface="Arial" panose="020B0604020202020204" pitchFamily="34" charset="0"/>
              <a:buChar char="•"/>
            </a:pPr>
            <a:endParaRPr lang="en-IN" sz="3500" dirty="0"/>
          </a:p>
        </p:txBody>
      </p:sp>
      <p:pic>
        <p:nvPicPr>
          <p:cNvPr id="22" name="Picture 21" descr="A screenshot of a computer screen&#10;&#10;AI-generated content may be incorrect.">
            <a:extLst>
              <a:ext uri="{FF2B5EF4-FFF2-40B4-BE49-F238E27FC236}">
                <a16:creationId xmlns:a16="http://schemas.microsoft.com/office/drawing/2014/main" id="{87899BD7-6071-A4D8-04A6-93C8492FC8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77370" y="22441267"/>
            <a:ext cx="8779430" cy="18313968"/>
          </a:xfrm>
          <a:prstGeom prst="rect">
            <a:avLst/>
          </a:prstGeom>
        </p:spPr>
      </p:pic>
      <p:sp>
        <p:nvSpPr>
          <p:cNvPr id="23" name="TextBox 22">
            <a:extLst>
              <a:ext uri="{FF2B5EF4-FFF2-40B4-BE49-F238E27FC236}">
                <a16:creationId xmlns:a16="http://schemas.microsoft.com/office/drawing/2014/main" id="{C91206C0-A917-06BC-18E7-2E34F3A75FCC}"/>
              </a:ext>
            </a:extLst>
          </p:cNvPr>
          <p:cNvSpPr txBox="1"/>
          <p:nvPr/>
        </p:nvSpPr>
        <p:spPr>
          <a:xfrm>
            <a:off x="10515600" y="22441267"/>
            <a:ext cx="18320346" cy="6170920"/>
          </a:xfrm>
          <a:prstGeom prst="rect">
            <a:avLst/>
          </a:prstGeom>
          <a:noFill/>
        </p:spPr>
        <p:txBody>
          <a:bodyPr wrap="square" rtlCol="0">
            <a:spAutoFit/>
          </a:bodyPr>
          <a:lstStyle/>
          <a:p>
            <a:r>
              <a:rPr lang="en-US" sz="4500" b="1" dirty="0"/>
              <a:t>Methodology</a:t>
            </a:r>
          </a:p>
          <a:p>
            <a:pPr marL="457200" indent="-457200">
              <a:buFont typeface="Arial" panose="020B0604020202020204" pitchFamily="34" charset="0"/>
              <a:buChar char="•"/>
            </a:pPr>
            <a:r>
              <a:rPr lang="en-IN" sz="3500" dirty="0"/>
              <a:t>Used Python(</a:t>
            </a:r>
            <a:r>
              <a:rPr lang="en-IN" sz="3500" dirty="0" err="1"/>
              <a:t>QuTiP</a:t>
            </a:r>
            <a:r>
              <a:rPr lang="en-IN" sz="3500" dirty="0"/>
              <a:t>/</a:t>
            </a:r>
            <a:r>
              <a:rPr lang="en-IN" sz="3500" dirty="0" err="1"/>
              <a:t>Qiskit</a:t>
            </a:r>
            <a:r>
              <a:rPr lang="en-IN" sz="3500" dirty="0"/>
              <a:t>, </a:t>
            </a:r>
            <a:r>
              <a:rPr lang="en-IN" sz="3500" dirty="0" err="1"/>
              <a:t>Pytorch</a:t>
            </a:r>
            <a:r>
              <a:rPr lang="en-IN" sz="3500" dirty="0"/>
              <a:t>) to build backend for quantum simulation and surrogate models</a:t>
            </a:r>
          </a:p>
          <a:p>
            <a:pPr marL="457200" indent="-457200">
              <a:buFont typeface="Arial" panose="020B0604020202020204" pitchFamily="34" charset="0"/>
              <a:buChar char="•"/>
            </a:pPr>
            <a:r>
              <a:rPr lang="en-IN" sz="3500" dirty="0"/>
              <a:t>Trained the GNN based surrogate model constructed by representing each molecule as a graph, using existing </a:t>
            </a:r>
            <a:r>
              <a:rPr lang="en-IN" sz="3500" dirty="0" err="1"/>
              <a:t>preprocessed</a:t>
            </a:r>
            <a:r>
              <a:rPr lang="en-IN" sz="3500" dirty="0"/>
              <a:t> quantum datasets.</a:t>
            </a:r>
          </a:p>
          <a:p>
            <a:pPr marL="457200" indent="-457200">
              <a:buFont typeface="Arial" panose="020B0604020202020204" pitchFamily="34" charset="0"/>
              <a:buChar char="•"/>
            </a:pPr>
            <a:r>
              <a:rPr lang="en-IN" sz="3500" dirty="0"/>
              <a:t>Designed and implemented REST APIs to support parameter recommendations and surrogate predictions</a:t>
            </a:r>
          </a:p>
          <a:p>
            <a:pPr marL="457200" indent="-457200">
              <a:buFont typeface="Arial" panose="020B0604020202020204" pitchFamily="34" charset="0"/>
              <a:buChar char="•"/>
            </a:pPr>
            <a:r>
              <a:rPr lang="en-IN" sz="3500" dirty="0"/>
              <a:t> Integrated agentic AI that orchestrates user interactions and ML surrogate calls, identifying optimal conditions and thresholds thus triggering quantum simulation, and finally interpreting the results.</a:t>
            </a:r>
          </a:p>
          <a:p>
            <a:pPr marL="457200" indent="-457200">
              <a:buFont typeface="Arial" panose="020B0604020202020204" pitchFamily="34" charset="0"/>
              <a:buChar char="•"/>
            </a:pPr>
            <a:r>
              <a:rPr lang="en-IN" sz="3500" dirty="0"/>
              <a:t>Testing all modules separately, and then combining them into a coherent platform. </a:t>
            </a:r>
          </a:p>
        </p:txBody>
      </p:sp>
      <p:pic>
        <p:nvPicPr>
          <p:cNvPr id="24" name="Picture 23" descr="A screenshot of a computer&#10;&#10;AI-generated content may be incorrect.">
            <a:extLst>
              <a:ext uri="{FF2B5EF4-FFF2-40B4-BE49-F238E27FC236}">
                <a16:creationId xmlns:a16="http://schemas.microsoft.com/office/drawing/2014/main" id="{FA64B098-66AC-104D-B5E7-ED48159A0FF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0475564" y="29389226"/>
            <a:ext cx="8478559" cy="6926883"/>
          </a:xfrm>
          <a:prstGeom prst="rect">
            <a:avLst/>
          </a:prstGeom>
          <a:noFill/>
          <a:ln>
            <a:noFill/>
          </a:ln>
        </p:spPr>
      </p:pic>
      <p:sp>
        <p:nvSpPr>
          <p:cNvPr id="25" name="TextBox 24">
            <a:extLst>
              <a:ext uri="{FF2B5EF4-FFF2-40B4-BE49-F238E27FC236}">
                <a16:creationId xmlns:a16="http://schemas.microsoft.com/office/drawing/2014/main" id="{5B3AD5C5-9556-3EBE-537B-AAF44BFB9339}"/>
              </a:ext>
            </a:extLst>
          </p:cNvPr>
          <p:cNvSpPr txBox="1"/>
          <p:nvPr/>
        </p:nvSpPr>
        <p:spPr>
          <a:xfrm>
            <a:off x="10515600" y="28618723"/>
            <a:ext cx="9879401" cy="2939266"/>
          </a:xfrm>
          <a:prstGeom prst="rect">
            <a:avLst/>
          </a:prstGeom>
          <a:noFill/>
        </p:spPr>
        <p:txBody>
          <a:bodyPr wrap="square" rtlCol="0">
            <a:spAutoFit/>
          </a:bodyPr>
          <a:lstStyle/>
          <a:p>
            <a:r>
              <a:rPr lang="en-US" sz="4500" b="1" dirty="0"/>
              <a:t>Results</a:t>
            </a:r>
          </a:p>
          <a:p>
            <a:pPr marL="457200" indent="-457200">
              <a:buFont typeface="Arial" panose="020B0604020202020204" pitchFamily="34" charset="0"/>
              <a:buChar char="•"/>
            </a:pPr>
            <a:r>
              <a:rPr lang="en-US" sz="3500" dirty="0"/>
              <a:t>End-to-End project workflow validation with working quantum simulations, ML surrogate predictions and UI showing parameter options and results display.</a:t>
            </a:r>
          </a:p>
        </p:txBody>
      </p:sp>
      <p:sp>
        <p:nvSpPr>
          <p:cNvPr id="26" name="TextBox 25">
            <a:extLst>
              <a:ext uri="{FF2B5EF4-FFF2-40B4-BE49-F238E27FC236}">
                <a16:creationId xmlns:a16="http://schemas.microsoft.com/office/drawing/2014/main" id="{EC6E9B94-E699-6AD8-26BA-ED31AEB400B4}"/>
              </a:ext>
            </a:extLst>
          </p:cNvPr>
          <p:cNvSpPr txBox="1"/>
          <p:nvPr/>
        </p:nvSpPr>
        <p:spPr>
          <a:xfrm>
            <a:off x="10515600" y="31736429"/>
            <a:ext cx="9895443" cy="4016484"/>
          </a:xfrm>
          <a:prstGeom prst="rect">
            <a:avLst/>
          </a:prstGeom>
          <a:noFill/>
        </p:spPr>
        <p:txBody>
          <a:bodyPr wrap="square" rtlCol="0">
            <a:spAutoFit/>
          </a:bodyPr>
          <a:lstStyle/>
          <a:p>
            <a:r>
              <a:rPr lang="en-US" sz="4500" b="1" dirty="0"/>
              <a:t>Conclusion and Interpretation</a:t>
            </a:r>
          </a:p>
          <a:p>
            <a:r>
              <a:rPr lang="en-IN" sz="3500" dirty="0"/>
              <a:t>Surrogate models help in parameter screening by providing predictions based on given thresholds.</a:t>
            </a:r>
          </a:p>
          <a:p>
            <a:r>
              <a:rPr lang="en-IN" sz="3500" dirty="0"/>
              <a:t>Agentic AI simplifies complex scientific workflows by guiding surrogate predictions and simulations, and interpreting the results, instead of everything being done manually</a:t>
            </a:r>
          </a:p>
        </p:txBody>
      </p:sp>
      <p:sp>
        <p:nvSpPr>
          <p:cNvPr id="2" name="TextBox 1">
            <a:extLst>
              <a:ext uri="{FF2B5EF4-FFF2-40B4-BE49-F238E27FC236}">
                <a16:creationId xmlns:a16="http://schemas.microsoft.com/office/drawing/2014/main" id="{36730445-C39C-1A54-5CCD-441E4AFE5B07}"/>
              </a:ext>
            </a:extLst>
          </p:cNvPr>
          <p:cNvSpPr txBox="1"/>
          <p:nvPr/>
        </p:nvSpPr>
        <p:spPr>
          <a:xfrm>
            <a:off x="10515600" y="35845401"/>
            <a:ext cx="9786771" cy="2400657"/>
          </a:xfrm>
          <a:prstGeom prst="rect">
            <a:avLst/>
          </a:prstGeom>
          <a:noFill/>
        </p:spPr>
        <p:txBody>
          <a:bodyPr wrap="square" rtlCol="0">
            <a:spAutoFit/>
          </a:bodyPr>
          <a:lstStyle/>
          <a:p>
            <a:r>
              <a:rPr lang="en-US" sz="4500" b="1" dirty="0"/>
              <a:t>Future Work</a:t>
            </a:r>
          </a:p>
          <a:p>
            <a:r>
              <a:rPr lang="en-US" sz="3500" dirty="0"/>
              <a:t>Adapting agentic AI assisted workflows into other scientific domains such as quantum chemistry, materials discovery, etc. </a:t>
            </a:r>
            <a:endParaRPr lang="en-IN" sz="3500" dirty="0"/>
          </a:p>
        </p:txBody>
      </p:sp>
      <p:pic>
        <p:nvPicPr>
          <p:cNvPr id="28" name="Picture 27">
            <a:extLst>
              <a:ext uri="{FF2B5EF4-FFF2-40B4-BE49-F238E27FC236}">
                <a16:creationId xmlns:a16="http://schemas.microsoft.com/office/drawing/2014/main" id="{8E1E1083-E2DA-878D-46BC-1719DA21BF39}"/>
              </a:ext>
            </a:extLst>
          </p:cNvPr>
          <p:cNvPicPr>
            <a:picLocks noChangeAspect="1"/>
          </p:cNvPicPr>
          <p:nvPr/>
        </p:nvPicPr>
        <p:blipFill>
          <a:blip r:embed="rId8"/>
          <a:stretch>
            <a:fillRect/>
          </a:stretch>
        </p:blipFill>
        <p:spPr>
          <a:xfrm>
            <a:off x="1177369" y="5997506"/>
            <a:ext cx="16968013" cy="9255280"/>
          </a:xfrm>
          <a:prstGeom prst="rect">
            <a:avLst/>
          </a:prstGeom>
        </p:spPr>
      </p:pic>
      <p:sp>
        <p:nvSpPr>
          <p:cNvPr id="30" name="TextBox 29">
            <a:extLst>
              <a:ext uri="{FF2B5EF4-FFF2-40B4-BE49-F238E27FC236}">
                <a16:creationId xmlns:a16="http://schemas.microsoft.com/office/drawing/2014/main" id="{F75E3773-C054-CF10-BE8F-348280515625}"/>
              </a:ext>
            </a:extLst>
          </p:cNvPr>
          <p:cNvSpPr txBox="1"/>
          <p:nvPr/>
        </p:nvSpPr>
        <p:spPr>
          <a:xfrm>
            <a:off x="6922939" y="38452049"/>
            <a:ext cx="23352273" cy="2400657"/>
          </a:xfrm>
          <a:prstGeom prst="rect">
            <a:avLst/>
          </a:prstGeom>
          <a:noFill/>
        </p:spPr>
        <p:txBody>
          <a:bodyPr wrap="square" rtlCol="0">
            <a:spAutoFit/>
          </a:bodyPr>
          <a:lstStyle/>
          <a:p>
            <a:r>
              <a:rPr lang="en-US" sz="4500" b="1" dirty="0"/>
              <a:t>Acknowledgement</a:t>
            </a:r>
          </a:p>
          <a:p>
            <a:r>
              <a:rPr lang="en-US" sz="3500" dirty="0"/>
              <a:t>I would like to thank my mentor Dr. Ankit Shrivastava for his meaningful assistance, tireless patience and guidance. I would like to extend my appreciation towards Dr. Arpita </a:t>
            </a:r>
            <a:r>
              <a:rPr lang="en-US" sz="3500" dirty="0" err="1"/>
              <a:t>Baronia</a:t>
            </a:r>
            <a:r>
              <a:rPr lang="en-US" sz="3500" dirty="0"/>
              <a:t> for her continued support. I would also like to thank my family for their moral support and guidance.</a:t>
            </a:r>
            <a:endParaRPr lang="en-IN" sz="3500" dirty="0"/>
          </a:p>
        </p:txBody>
      </p:sp>
      <p:sp>
        <p:nvSpPr>
          <p:cNvPr id="31" name="TextBox 30">
            <a:extLst>
              <a:ext uri="{FF2B5EF4-FFF2-40B4-BE49-F238E27FC236}">
                <a16:creationId xmlns:a16="http://schemas.microsoft.com/office/drawing/2014/main" id="{1551367D-21A7-2543-24E2-4605F6447BC6}"/>
              </a:ext>
            </a:extLst>
          </p:cNvPr>
          <p:cNvSpPr txBox="1"/>
          <p:nvPr/>
        </p:nvSpPr>
        <p:spPr>
          <a:xfrm>
            <a:off x="9956800" y="40906130"/>
            <a:ext cx="20447712" cy="2308324"/>
          </a:xfrm>
          <a:prstGeom prst="rect">
            <a:avLst/>
          </a:prstGeom>
          <a:noFill/>
        </p:spPr>
        <p:txBody>
          <a:bodyPr wrap="square" rtlCol="0">
            <a:spAutoFit/>
          </a:bodyPr>
          <a:lstStyle/>
          <a:p>
            <a:r>
              <a:rPr lang="en-IN" dirty="0"/>
              <a:t>Bensoussan, A., </a:t>
            </a:r>
            <a:r>
              <a:rPr lang="en-IN" dirty="0" err="1"/>
              <a:t>Chachkarova</a:t>
            </a:r>
            <a:r>
              <a:rPr lang="en-IN" dirty="0"/>
              <a:t>, E., Even-Mendoza, K., </a:t>
            </a:r>
            <a:r>
              <a:rPr lang="en-IN" dirty="0" err="1"/>
              <a:t>Fortz</a:t>
            </a:r>
            <a:r>
              <a:rPr lang="en-IN" dirty="0"/>
              <a:t>, S., &amp; Lenihan, C. (2025). </a:t>
            </a:r>
            <a:r>
              <a:rPr lang="en-IN" dirty="0" err="1"/>
              <a:t>AccelerQ</a:t>
            </a:r>
            <a:r>
              <a:rPr lang="en-IN" dirty="0"/>
              <a:t>: Accelerating quantum </a:t>
            </a:r>
            <a:r>
              <a:rPr lang="en-IN" dirty="0" err="1"/>
              <a:t>eigensolvers</a:t>
            </a:r>
            <a:r>
              <a:rPr lang="en-IN" dirty="0"/>
              <a:t> with machine learning on quantum simulators. </a:t>
            </a:r>
            <a:r>
              <a:rPr lang="en-IN" i="1" dirty="0"/>
              <a:t>Proceedings of the ACM on Programming Languages, 9</a:t>
            </a:r>
            <a:r>
              <a:rPr lang="en-IN" dirty="0"/>
              <a:t>(OOPSLA2), Article 354, 1–31. </a:t>
            </a:r>
            <a:r>
              <a:rPr lang="en-IN" dirty="0">
                <a:hlinkClick r:id="rId9"/>
              </a:rPr>
              <a:t>https://doi.org/10.1145/3763132</a:t>
            </a:r>
            <a:endParaRPr lang="en-IN" dirty="0"/>
          </a:p>
          <a:p>
            <a:r>
              <a:rPr lang="en-IN" dirty="0"/>
              <a:t>Zou, Y., Cheng, A. H., Aldossary, A., Bai, J., Leong, S. X., Campos-Gonzalez-Angulo, J. A., ... &amp; </a:t>
            </a:r>
            <a:r>
              <a:rPr lang="en-IN" dirty="0" err="1"/>
              <a:t>Aspuru</a:t>
            </a:r>
            <a:r>
              <a:rPr lang="en-IN" dirty="0"/>
              <a:t>-Guzik, A. (2025). El </a:t>
            </a:r>
            <a:r>
              <a:rPr lang="en-IN" dirty="0" err="1"/>
              <a:t>Agente</a:t>
            </a:r>
            <a:r>
              <a:rPr lang="en-IN" dirty="0"/>
              <a:t>: An autonomous agent for quantum chemistry. </a:t>
            </a:r>
            <a:r>
              <a:rPr lang="en-IN" i="1" dirty="0"/>
              <a:t>Matter</a:t>
            </a:r>
            <a:r>
              <a:rPr lang="en-IN" dirty="0"/>
              <a:t>, </a:t>
            </a:r>
            <a:r>
              <a:rPr lang="en-IN" i="1" dirty="0"/>
              <a:t>8</a:t>
            </a:r>
            <a:r>
              <a:rPr lang="en-IN" dirty="0"/>
              <a:t>(7).</a:t>
            </a:r>
          </a:p>
          <a:p>
            <a:r>
              <a:rPr lang="en-IN" u="sng" dirty="0">
                <a:hlinkClick r:id="rId10"/>
              </a:rPr>
              <a:t>https://www.spinquanta.com/news-detail/spinq-quantum-artificial-intelligence-lab-research-project-overview</a:t>
            </a:r>
            <a:endParaRPr lang="en-IN" dirty="0"/>
          </a:p>
          <a:p>
            <a:r>
              <a:rPr lang="en-US" dirty="0"/>
              <a:t>Carleo, G., &amp; Troyer, M. (2017). Solving the quantum many-body problem with artificial neural networks. </a:t>
            </a:r>
            <a:r>
              <a:rPr lang="en-US" i="1" dirty="0"/>
              <a:t>Science, 355</a:t>
            </a:r>
            <a:r>
              <a:rPr lang="en-US" dirty="0"/>
              <a:t>(6325), 602–606. </a:t>
            </a:r>
            <a:r>
              <a:rPr lang="en-US" dirty="0">
                <a:hlinkClick r:id="rId11"/>
              </a:rPr>
              <a:t>https://doi.org/10.1126/science.aag2302</a:t>
            </a:r>
            <a:endParaRPr lang="en-US" dirty="0"/>
          </a:p>
          <a:p>
            <a:r>
              <a:rPr lang="en-US" dirty="0"/>
              <a:t>Shin, W., Souza, R., Rosendo, D., Suter, F., Wang, F., </a:t>
            </a:r>
            <a:r>
              <a:rPr lang="en-US" dirty="0" err="1"/>
              <a:t>Balaprakash</a:t>
            </a:r>
            <a:r>
              <a:rPr lang="en-US" dirty="0"/>
              <a:t>, P., &amp; da Silva, R. F. (2025). </a:t>
            </a:r>
            <a:r>
              <a:rPr lang="en-US" i="1" dirty="0"/>
              <a:t>The (R)evolution of scientific workflows in the agentic AI era: Towards autonomous science.</a:t>
            </a:r>
            <a:r>
              <a:rPr lang="en-US" dirty="0"/>
              <a:t> In </a:t>
            </a:r>
            <a:r>
              <a:rPr lang="en-US" b="1" dirty="0"/>
              <a:t>Proceedings of the 20th Workshop on Workflows in Support of Large-Scale Science (WORKS ’25)</a:t>
            </a:r>
            <a:r>
              <a:rPr lang="en-US" dirty="0"/>
              <a:t> (pp. 2305–2316). Association for Computing Machinery. </a:t>
            </a:r>
            <a:r>
              <a:rPr lang="en-US" dirty="0">
                <a:hlinkClick r:id="rId12"/>
              </a:rPr>
              <a:t>https://doi.org/10.1145/3731599.3767580</a:t>
            </a:r>
            <a:endParaRPr lang="en-IN" dirty="0"/>
          </a:p>
          <a:p>
            <a:endParaRPr lang="en-IN" dirty="0"/>
          </a:p>
        </p:txBody>
      </p:sp>
    </p:spTree>
    <p:extLst>
      <p:ext uri="{BB962C8B-B14F-4D97-AF65-F5344CB8AC3E}">
        <p14:creationId xmlns:p14="http://schemas.microsoft.com/office/powerpoint/2010/main" val="10358404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1517</TotalTime>
  <Words>735</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Palatino Linotype</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Nitai Chandra</dc:creator>
  <cp:lastModifiedBy>Shriya Desai [CSE - 2024]</cp:lastModifiedBy>
  <cp:revision>17</cp:revision>
  <dcterms:created xsi:type="dcterms:W3CDTF">2025-08-19T10:08:49Z</dcterms:created>
  <dcterms:modified xsi:type="dcterms:W3CDTF">2026-03-12T19:38:39Z</dcterms:modified>
</cp:coreProperties>
</file>