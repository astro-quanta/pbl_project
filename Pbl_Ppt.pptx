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8" r:id="rId3"/>
    <p:sldId id="267" r:id="rId4"/>
    <p:sldId id="268" r:id="rId5"/>
    <p:sldId id="259" r:id="rId6"/>
    <p:sldId id="260" r:id="rId7"/>
    <p:sldId id="270" r:id="rId8"/>
    <p:sldId id="269" r:id="rId9"/>
    <p:sldId id="262" r:id="rId10"/>
    <p:sldId id="271" r:id="rId11"/>
    <p:sldId id="272" r:id="rId12"/>
    <p:sldId id="273" r:id="rId13"/>
    <p:sldId id="274" r:id="rId14"/>
    <p:sldId id="276" r:id="rId15"/>
    <p:sldId id="277" r:id="rId16"/>
    <p:sldId id="278" r:id="rId17"/>
    <p:sldId id="263" r:id="rId18"/>
    <p:sldId id="26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4404" autoAdjust="0"/>
  </p:normalViewPr>
  <p:slideViewPr>
    <p:cSldViewPr snapToGrid="0">
      <p:cViewPr varScale="1">
        <p:scale>
          <a:sx n="71" d="100"/>
          <a:sy n="71" d="100"/>
        </p:scale>
        <p:origin x="45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iya Desai [CSE - 2024]" userId="f92d40ab-5a36-47e5-a5da-2dbff67432a3" providerId="ADAL" clId="{CAF839E9-6BCE-447A-9313-D434611F446A}"/>
    <pc:docChg chg="undo custSel addSld delSld modSld sldOrd">
      <pc:chgData name="Shriya Desai [CSE - 2024]" userId="f92d40ab-5a36-47e5-a5da-2dbff67432a3" providerId="ADAL" clId="{CAF839E9-6BCE-447A-9313-D434611F446A}" dt="2026-02-14T08:00:34.307" v="3456" actId="2696"/>
      <pc:docMkLst>
        <pc:docMk/>
      </pc:docMkLst>
      <pc:sldChg chg="addSp delSp modSp new add del mod setBg addAnim">
        <pc:chgData name="Shriya Desai [CSE - 2024]" userId="f92d40ab-5a36-47e5-a5da-2dbff67432a3" providerId="ADAL" clId="{CAF839E9-6BCE-447A-9313-D434611F446A}" dt="2026-02-14T08:00:34.307" v="3456" actId="2696"/>
        <pc:sldMkLst>
          <pc:docMk/>
          <pc:sldMk cId="3351250111" sldId="2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A8B473-7D95-451F-805E-67B543EC75AB}" type="datetimeFigureOut">
              <a:rPr lang="en-IN" smtClean="0"/>
              <a:t>14-02-2026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B2B09B-BA5A-4986-85DC-C1764E7AAED7}" type="slidenum">
              <a:rPr lang="en-IN" smtClean="0"/>
              <a:t>‹#›</a:t>
            </a:fld>
            <a:endParaRPr lang="en-IN"/>
          </a:p>
        </p:txBody>
      </p:sp>
    </p:spTree>
    <p:extLst>
      <p:ext uri="{BB962C8B-B14F-4D97-AF65-F5344CB8AC3E}">
        <p14:creationId xmlns:p14="http://schemas.microsoft.com/office/powerpoint/2010/main" val="3255256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Workflow:</a:t>
            </a:r>
          </a:p>
          <a:p>
            <a:pPr marL="228600" indent="-228600">
              <a:buAutoNum type="arabicPeriod"/>
            </a:pPr>
            <a:r>
              <a:rPr lang="en-US" dirty="0"/>
              <a:t>What are you simulating?</a:t>
            </a:r>
          </a:p>
          <a:p>
            <a:pPr marL="228600" indent="-228600">
              <a:buAutoNum type="arabicPeriod"/>
            </a:pPr>
            <a:r>
              <a:rPr lang="en-US" dirty="0"/>
              <a:t>Which approximation are you using?</a:t>
            </a:r>
          </a:p>
          <a:p>
            <a:pPr marL="228600" indent="-228600">
              <a:buAutoNum type="arabicPeriod"/>
            </a:pPr>
            <a:r>
              <a:rPr lang="en-US" dirty="0"/>
              <a:t>How do you want to represent the states/wavefunctions?</a:t>
            </a:r>
          </a:p>
          <a:p>
            <a:pPr marL="228600" indent="-228600">
              <a:buAutoNum type="arabicPeriod"/>
            </a:pPr>
            <a:r>
              <a:rPr lang="en-US" dirty="0"/>
              <a:t>How accurate or fast do you want the simulation?</a:t>
            </a:r>
          </a:p>
          <a:p>
            <a:pPr marL="228600" indent="-228600">
              <a:buAutoNum type="arabicPeriod"/>
            </a:pPr>
            <a:r>
              <a:rPr lang="en-IN" dirty="0"/>
              <a:t>Where?</a:t>
            </a:r>
          </a:p>
          <a:p>
            <a:pPr marL="228600" indent="-228600">
              <a:buAutoNum type="arabicPeriod"/>
            </a:pPr>
            <a:r>
              <a:rPr lang="en-IN" dirty="0"/>
              <a:t>How?</a:t>
            </a:r>
          </a:p>
        </p:txBody>
      </p:sp>
      <p:sp>
        <p:nvSpPr>
          <p:cNvPr id="4" name="Slide Number Placeholder 3"/>
          <p:cNvSpPr>
            <a:spLocks noGrp="1"/>
          </p:cNvSpPr>
          <p:nvPr>
            <p:ph type="sldNum" sz="quarter" idx="5"/>
          </p:nvPr>
        </p:nvSpPr>
        <p:spPr/>
        <p:txBody>
          <a:bodyPr/>
          <a:lstStyle/>
          <a:p>
            <a:fld id="{A4B2B09B-BA5A-4986-85DC-C1764E7AAED7}" type="slidenum">
              <a:rPr lang="en-IN" smtClean="0"/>
              <a:t>3</a:t>
            </a:fld>
            <a:endParaRPr lang="en-IN"/>
          </a:p>
        </p:txBody>
      </p:sp>
    </p:spTree>
    <p:extLst>
      <p:ext uri="{BB962C8B-B14F-4D97-AF65-F5344CB8AC3E}">
        <p14:creationId xmlns:p14="http://schemas.microsoft.com/office/powerpoint/2010/main" val="686590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El </a:t>
            </a:r>
            <a:r>
              <a:rPr lang="en-IN" dirty="0" err="1"/>
              <a:t>Agente</a:t>
            </a:r>
            <a:r>
              <a:rPr lang="en-IN" dirty="0"/>
              <a:t> Q (LLM agent, 2025):Leveraged large language models to automate quantum chemistry workflows via conversational interaction.</a:t>
            </a:r>
          </a:p>
          <a:p>
            <a:r>
              <a:rPr lang="en-IN" dirty="0"/>
              <a:t>ML Surrogates (Nature 2019):Introduced machine learning-based surrogates for rapid prediction of quantum properties.</a:t>
            </a:r>
          </a:p>
          <a:p>
            <a:r>
              <a:rPr lang="en-IN" dirty="0"/>
              <a:t>Design Agents (RL, Innsbruck):Developed reinforcement learning agents for autonomous quantum experiment design.</a:t>
            </a:r>
          </a:p>
          <a:p>
            <a:r>
              <a:rPr lang="en-IN" dirty="0" err="1"/>
              <a:t>SpinQ</a:t>
            </a:r>
            <a:r>
              <a:rPr lang="en-IN" dirty="0"/>
              <a:t> Quantum AI </a:t>
            </a:r>
            <a:r>
              <a:rPr lang="en-IN" dirty="0" err="1"/>
              <a:t>Lab:Focused</a:t>
            </a:r>
            <a:r>
              <a:rPr lang="en-IN" dirty="0"/>
              <a:t> on advancing quantum machine learning algorithms and hardware-software integration.</a:t>
            </a:r>
          </a:p>
        </p:txBody>
      </p:sp>
      <p:sp>
        <p:nvSpPr>
          <p:cNvPr id="4" name="Slide Number Placeholder 3"/>
          <p:cNvSpPr>
            <a:spLocks noGrp="1"/>
          </p:cNvSpPr>
          <p:nvPr>
            <p:ph type="sldNum" sz="quarter" idx="5"/>
          </p:nvPr>
        </p:nvSpPr>
        <p:spPr/>
        <p:txBody>
          <a:bodyPr/>
          <a:lstStyle/>
          <a:p>
            <a:fld id="{A4B2B09B-BA5A-4986-85DC-C1764E7AAED7}" type="slidenum">
              <a:rPr lang="en-IN" smtClean="0"/>
              <a:t>5</a:t>
            </a:fld>
            <a:endParaRPr lang="en-IN"/>
          </a:p>
        </p:txBody>
      </p:sp>
    </p:spTree>
    <p:extLst>
      <p:ext uri="{BB962C8B-B14F-4D97-AF65-F5344CB8AC3E}">
        <p14:creationId xmlns:p14="http://schemas.microsoft.com/office/powerpoint/2010/main" val="2235335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AI does the following: </a:t>
            </a:r>
          </a:p>
          <a:p>
            <a:pPr marL="228600" indent="-228600">
              <a:buFont typeface="+mj-lt"/>
              <a:buAutoNum type="arabicPeriod"/>
            </a:pPr>
            <a:r>
              <a:rPr lang="en-US" dirty="0"/>
              <a:t>Orchestrates the workflow</a:t>
            </a:r>
          </a:p>
          <a:p>
            <a:pPr marL="228600" indent="-228600">
              <a:buFont typeface="+mj-lt"/>
              <a:buAutoNum type="arabicPeriod"/>
            </a:pPr>
            <a:r>
              <a:rPr lang="en-US" dirty="0"/>
              <a:t>Decides whether surrogate result is worth simulating</a:t>
            </a:r>
          </a:p>
          <a:p>
            <a:pPr marL="228600" indent="-228600">
              <a:buFont typeface="+mj-lt"/>
              <a:buAutoNum type="arabicPeriod"/>
            </a:pPr>
            <a:r>
              <a:rPr lang="en-US" dirty="0"/>
              <a:t>Explains outputs in simple language</a:t>
            </a:r>
            <a:endParaRPr lang="en-IN" dirty="0"/>
          </a:p>
        </p:txBody>
      </p:sp>
      <p:sp>
        <p:nvSpPr>
          <p:cNvPr id="4" name="Slide Number Placeholder 3"/>
          <p:cNvSpPr>
            <a:spLocks noGrp="1"/>
          </p:cNvSpPr>
          <p:nvPr>
            <p:ph type="sldNum" sz="quarter" idx="5"/>
          </p:nvPr>
        </p:nvSpPr>
        <p:spPr/>
        <p:txBody>
          <a:bodyPr/>
          <a:lstStyle/>
          <a:p>
            <a:fld id="{A4B2B09B-BA5A-4986-85DC-C1764E7AAED7}" type="slidenum">
              <a:rPr lang="en-IN" smtClean="0"/>
              <a:t>7</a:t>
            </a:fld>
            <a:endParaRPr lang="en-IN"/>
          </a:p>
        </p:txBody>
      </p:sp>
    </p:spTree>
    <p:extLst>
      <p:ext uri="{BB962C8B-B14F-4D97-AF65-F5344CB8AC3E}">
        <p14:creationId xmlns:p14="http://schemas.microsoft.com/office/powerpoint/2010/main" val="1692417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Prospective Agentic </a:t>
            </a:r>
            <a:r>
              <a:rPr lang="en-US" dirty="0"/>
              <a:t>AI:</a:t>
            </a:r>
          </a:p>
          <a:p>
            <a:r>
              <a:rPr lang="en-US" dirty="0"/>
              <a:t>Salesforce </a:t>
            </a:r>
            <a:r>
              <a:rPr lang="en-US" dirty="0" err="1"/>
              <a:t>Agentforce</a:t>
            </a:r>
            <a:br>
              <a:rPr lang="en-US" dirty="0"/>
            </a:br>
            <a:r>
              <a:rPr lang="en-US" dirty="0"/>
              <a:t>AWS Strands</a:t>
            </a:r>
          </a:p>
          <a:p>
            <a:r>
              <a:rPr lang="en-US" dirty="0"/>
              <a:t>Databricks </a:t>
            </a:r>
            <a:r>
              <a:rPr lang="en-US" dirty="0" err="1"/>
              <a:t>Agentbricks</a:t>
            </a:r>
            <a:endParaRPr lang="en-US" dirty="0"/>
          </a:p>
          <a:p>
            <a:r>
              <a:rPr lang="en-US" dirty="0" err="1"/>
              <a:t>CrewAI</a:t>
            </a:r>
            <a:endParaRPr lang="en-US" dirty="0"/>
          </a:p>
          <a:p>
            <a:r>
              <a:rPr lang="en-US" dirty="0"/>
              <a:t>Beam AI</a:t>
            </a:r>
            <a:endParaRPr lang="en-IN" dirty="0"/>
          </a:p>
        </p:txBody>
      </p:sp>
      <p:sp>
        <p:nvSpPr>
          <p:cNvPr id="4" name="Slide Number Placeholder 3"/>
          <p:cNvSpPr>
            <a:spLocks noGrp="1"/>
          </p:cNvSpPr>
          <p:nvPr>
            <p:ph type="sldNum" sz="quarter" idx="5"/>
          </p:nvPr>
        </p:nvSpPr>
        <p:spPr/>
        <p:txBody>
          <a:bodyPr/>
          <a:lstStyle/>
          <a:p>
            <a:fld id="{A4B2B09B-BA5A-4986-85DC-C1764E7AAED7}" type="slidenum">
              <a:rPr lang="en-IN" smtClean="0"/>
              <a:t>8</a:t>
            </a:fld>
            <a:endParaRPr lang="en-IN"/>
          </a:p>
        </p:txBody>
      </p:sp>
    </p:spTree>
    <p:extLst>
      <p:ext uri="{BB962C8B-B14F-4D97-AF65-F5344CB8AC3E}">
        <p14:creationId xmlns:p14="http://schemas.microsoft.com/office/powerpoint/2010/main" val="2997788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14-02-2026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news.skhynix.com/all-about-ai-the-origins-evolution-future-of-ai/" TargetMode="External"/><Relationship Id="rId2" Type="http://schemas.openxmlformats.org/officeDocument/2006/relationships/hyperlink" Target="https://arxiv.org/html/2411.09131v1#S8" TargetMode="External"/><Relationship Id="rId1" Type="http://schemas.openxmlformats.org/officeDocument/2006/relationships/slideLayout" Target="../slideLayouts/slideLayout2.xml"/><Relationship Id="rId5" Type="http://schemas.openxmlformats.org/officeDocument/2006/relationships/hyperlink" Target="https://medium.com/@mihir473/simulating-quantum-systems-with-qutip-a-deep-dive-c3daf829b05f" TargetMode="External"/><Relationship Id="rId4" Type="http://schemas.openxmlformats.org/officeDocument/2006/relationships/hyperlink" Target="https://www.spinquanta.com/news-detail/spinq-quantum-artificial-intelligence-lab-research-project-overview"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61912" y="2562225"/>
            <a:ext cx="12068175" cy="1698481"/>
          </a:xfrm>
        </p:spPr>
        <p:txBody>
          <a:bodyPr>
            <a:noAutofit/>
          </a:bodyPr>
          <a:lstStyle/>
          <a:p>
            <a:r>
              <a:rPr lang="en-IN" sz="3600" dirty="0"/>
              <a:t>AI-Assisted </a:t>
            </a:r>
            <a:br>
              <a:rPr lang="en-IN" sz="3600" dirty="0"/>
            </a:br>
            <a:r>
              <a:rPr lang="en-IN" sz="3600" dirty="0"/>
              <a:t>Quantum Simulation &amp; Modelling </a:t>
            </a:r>
            <a:br>
              <a:rPr lang="en-IN" sz="3600" dirty="0"/>
            </a:br>
            <a:r>
              <a:rPr lang="en-IN" sz="3600" dirty="0"/>
              <a:t>using Agentic AI</a:t>
            </a:r>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0" y="4607179"/>
            <a:ext cx="4237539" cy="1984074"/>
          </a:xfrm>
        </p:spPr>
        <p:txBody>
          <a:bodyPr>
            <a:noAutofit/>
          </a:bodyPr>
          <a:lstStyle/>
          <a:p>
            <a:pPr>
              <a:lnSpc>
                <a:spcPct val="100000"/>
              </a:lnSpc>
            </a:pPr>
            <a:r>
              <a:rPr lang="en-IN" dirty="0"/>
              <a:t>Submitted By:</a:t>
            </a:r>
            <a:br>
              <a:rPr lang="en-IN" dirty="0"/>
            </a:br>
            <a:r>
              <a:rPr lang="en-IN" b="1" dirty="0"/>
              <a:t>Shriya Desai</a:t>
            </a:r>
          </a:p>
          <a:p>
            <a:pPr>
              <a:lnSpc>
                <a:spcPct val="100000"/>
              </a:lnSpc>
            </a:pPr>
            <a:r>
              <a:rPr lang="en-IN" b="1" dirty="0"/>
              <a:t>2427030171</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b="1" dirty="0"/>
              <a:t>Dr. Ankit Shrivastava</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a:xfrm>
            <a:off x="715081" y="5579438"/>
            <a:ext cx="10909640" cy="1065836"/>
          </a:xfrm>
        </p:spPr>
        <p:txBody>
          <a:bodyPr vert="horz" lIns="91440" tIns="45720" rIns="91440" bIns="45720" rtlCol="0" anchor="ctr">
            <a:normAutofit/>
          </a:bodyPr>
          <a:lstStyle/>
          <a:p>
            <a:pPr algn="ctr"/>
            <a:r>
              <a:rPr lang="en-US" sz="6600" dirty="0"/>
              <a:t>Introduction</a:t>
            </a:r>
          </a:p>
        </p:txBody>
      </p:sp>
      <p:pic>
        <p:nvPicPr>
          <p:cNvPr id="7" name="Picture 6" descr="A diagram of a network&#10;&#10;AI-generated content may be incorrect.">
            <a:extLst>
              <a:ext uri="{FF2B5EF4-FFF2-40B4-BE49-F238E27FC236}">
                <a16:creationId xmlns:a16="http://schemas.microsoft.com/office/drawing/2014/main" id="{CA07BB4C-A398-FC12-68B5-ECD4AE079EBE}"/>
              </a:ext>
            </a:extLst>
          </p:cNvPr>
          <p:cNvPicPr>
            <a:picLocks noChangeAspect="1"/>
          </p:cNvPicPr>
          <p:nvPr/>
        </p:nvPicPr>
        <p:blipFill>
          <a:blip r:embed="rId2"/>
          <a:stretch>
            <a:fillRect/>
          </a:stretch>
        </p:blipFill>
        <p:spPr>
          <a:xfrm>
            <a:off x="0" y="212726"/>
            <a:ext cx="6026357" cy="3796604"/>
          </a:xfrm>
          <a:prstGeom prst="rect">
            <a:avLst/>
          </a:prstGeom>
        </p:spPr>
      </p:pic>
      <p:pic>
        <p:nvPicPr>
          <p:cNvPr id="1026" name="Picture 2" descr="All About AI] The Origins, Evolution &amp; Future of AI">
            <a:extLst>
              <a:ext uri="{FF2B5EF4-FFF2-40B4-BE49-F238E27FC236}">
                <a16:creationId xmlns:a16="http://schemas.microsoft.com/office/drawing/2014/main" id="{7B98F5BC-8380-DFEA-7FFA-C55574B97B7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943600" y="212726"/>
            <a:ext cx="6151685" cy="3660252"/>
          </a:xfrm>
          <a:prstGeom prst="rect">
            <a:avLst/>
          </a:prstGeom>
          <a:noFill/>
          <a:extLst>
            <a:ext uri="{909E8E84-426E-40DD-AFC4-6F175D3DCCD1}">
              <a14:hiddenFill xmlns:a14="http://schemas.microsoft.com/office/drawing/2010/main">
                <a:solidFill>
                  <a:srgbClr val="FFFFFF"/>
                </a:solidFill>
              </a14:hiddenFill>
            </a:ext>
          </a:extLst>
        </p:spPr>
      </p:pic>
      <p:sp>
        <p:nvSpPr>
          <p:cNvPr id="1033"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utoShape 2" descr="Neural-Networks-Architecture">
            <a:extLst>
              <a:ext uri="{FF2B5EF4-FFF2-40B4-BE49-F238E27FC236}">
                <a16:creationId xmlns:a16="http://schemas.microsoft.com/office/drawing/2014/main" id="{DABE7BB3-A531-BB29-30A6-1E40DD0D535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6" descr="Lightbox">
            <a:extLst>
              <a:ext uri="{FF2B5EF4-FFF2-40B4-BE49-F238E27FC236}">
                <a16:creationId xmlns:a16="http://schemas.microsoft.com/office/drawing/2014/main" id="{E010E61D-C2D1-7AEE-3382-265668C81B3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8" descr="Lightbox">
            <a:extLst>
              <a:ext uri="{FF2B5EF4-FFF2-40B4-BE49-F238E27FC236}">
                <a16:creationId xmlns:a16="http://schemas.microsoft.com/office/drawing/2014/main" id="{DAC4EAA3-A7E6-AFBA-E78E-F1680C58EB7A}"/>
              </a:ext>
            </a:extLst>
          </p:cNvPr>
          <p:cNvSpPr>
            <a:spLocks noChangeAspect="1" noChangeArrowheads="1"/>
          </p:cNvSpPr>
          <p:nvPr/>
        </p:nvSpPr>
        <p:spPr bwMode="auto">
          <a:xfrm>
            <a:off x="6667501" y="2158999"/>
            <a:ext cx="4333875" cy="43338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a:extLst>
              <a:ext uri="{FF2B5EF4-FFF2-40B4-BE49-F238E27FC236}">
                <a16:creationId xmlns:a16="http://schemas.microsoft.com/office/drawing/2014/main" id="{63A4829A-7EAB-D96E-AD8F-440DF3FE09C3}"/>
              </a:ext>
            </a:extLst>
          </p:cNvPr>
          <p:cNvSpPr txBox="1"/>
          <p:nvPr/>
        </p:nvSpPr>
        <p:spPr>
          <a:xfrm>
            <a:off x="323850" y="4105275"/>
            <a:ext cx="11439525" cy="1600438"/>
          </a:xfrm>
          <a:prstGeom prst="rect">
            <a:avLst/>
          </a:prstGeom>
          <a:noFill/>
        </p:spPr>
        <p:txBody>
          <a:bodyPr wrap="square" rtlCol="0">
            <a:spAutoFit/>
          </a:bodyPr>
          <a:lstStyle/>
          <a:p>
            <a:r>
              <a:rPr lang="en-US" sz="2000" dirty="0"/>
              <a:t>A neural network is like our brain. It has neurons that are connected to each other. </a:t>
            </a:r>
          </a:p>
          <a:p>
            <a:r>
              <a:rPr lang="en-US" sz="2000" dirty="0"/>
              <a:t>NNs are trained on some existing data and are used to further make predictions based on their learnings. </a:t>
            </a:r>
          </a:p>
          <a:p>
            <a:r>
              <a:rPr lang="en-US" sz="2000" dirty="0"/>
              <a:t>80% of the data is used for training and 20% of data is used for testing</a:t>
            </a:r>
          </a:p>
          <a:p>
            <a:endParaRPr lang="en-IN" dirty="0"/>
          </a:p>
        </p:txBody>
      </p:sp>
      <p:sp>
        <p:nvSpPr>
          <p:cNvPr id="8" name="TextBox 7">
            <a:extLst>
              <a:ext uri="{FF2B5EF4-FFF2-40B4-BE49-F238E27FC236}">
                <a16:creationId xmlns:a16="http://schemas.microsoft.com/office/drawing/2014/main" id="{8DE4F3F1-79DA-3C05-2183-921C5AB97B06}"/>
              </a:ext>
            </a:extLst>
          </p:cNvPr>
          <p:cNvSpPr txBox="1"/>
          <p:nvPr/>
        </p:nvSpPr>
        <p:spPr>
          <a:xfrm>
            <a:off x="228600" y="6150322"/>
            <a:ext cx="2819400" cy="646331"/>
          </a:xfrm>
          <a:prstGeom prst="rect">
            <a:avLst/>
          </a:prstGeom>
          <a:noFill/>
        </p:spPr>
        <p:txBody>
          <a:bodyPr wrap="square" rtlCol="0">
            <a:spAutoFit/>
          </a:bodyPr>
          <a:lstStyle/>
          <a:p>
            <a:r>
              <a:rPr lang="en-US" dirty="0"/>
              <a:t>*1</a:t>
            </a:r>
          </a:p>
          <a:p>
            <a:r>
              <a:rPr lang="en-US" dirty="0"/>
              <a:t>*2</a:t>
            </a:r>
            <a:endParaRPr lang="en-IN" dirty="0"/>
          </a:p>
        </p:txBody>
      </p:sp>
      <p:sp>
        <p:nvSpPr>
          <p:cNvPr id="9" name="TextBox 8">
            <a:extLst>
              <a:ext uri="{FF2B5EF4-FFF2-40B4-BE49-F238E27FC236}">
                <a16:creationId xmlns:a16="http://schemas.microsoft.com/office/drawing/2014/main" id="{A21FEEC0-CA71-8F5D-E5D8-586FAC4AED01}"/>
              </a:ext>
            </a:extLst>
          </p:cNvPr>
          <p:cNvSpPr txBox="1"/>
          <p:nvPr/>
        </p:nvSpPr>
        <p:spPr>
          <a:xfrm>
            <a:off x="228600" y="212726"/>
            <a:ext cx="657225" cy="369332"/>
          </a:xfrm>
          <a:prstGeom prst="rect">
            <a:avLst/>
          </a:prstGeom>
          <a:noFill/>
        </p:spPr>
        <p:txBody>
          <a:bodyPr wrap="square" rtlCol="0">
            <a:spAutoFit/>
          </a:bodyPr>
          <a:lstStyle/>
          <a:p>
            <a:r>
              <a:rPr lang="en-US" dirty="0"/>
              <a:t>*</a:t>
            </a:r>
            <a:endParaRPr lang="en-IN" dirty="0"/>
          </a:p>
        </p:txBody>
      </p:sp>
      <p:sp>
        <p:nvSpPr>
          <p:cNvPr id="10" name="TextBox 9">
            <a:extLst>
              <a:ext uri="{FF2B5EF4-FFF2-40B4-BE49-F238E27FC236}">
                <a16:creationId xmlns:a16="http://schemas.microsoft.com/office/drawing/2014/main" id="{6000943B-BAF2-F1BD-C100-D09D5F652EF2}"/>
              </a:ext>
            </a:extLst>
          </p:cNvPr>
          <p:cNvSpPr txBox="1"/>
          <p:nvPr/>
        </p:nvSpPr>
        <p:spPr>
          <a:xfrm>
            <a:off x="5616782" y="107256"/>
            <a:ext cx="657225" cy="369332"/>
          </a:xfrm>
          <a:prstGeom prst="rect">
            <a:avLst/>
          </a:prstGeom>
          <a:noFill/>
        </p:spPr>
        <p:txBody>
          <a:bodyPr wrap="square" rtlCol="0">
            <a:spAutoFit/>
          </a:bodyPr>
          <a:lstStyle/>
          <a:p>
            <a:r>
              <a:rPr lang="en-US" dirty="0"/>
              <a:t>*</a:t>
            </a:r>
            <a:endParaRPr lang="en-IN" dirty="0"/>
          </a:p>
        </p:txBody>
      </p:sp>
    </p:spTree>
    <p:extLst>
      <p:ext uri="{BB962C8B-B14F-4D97-AF65-F5344CB8AC3E}">
        <p14:creationId xmlns:p14="http://schemas.microsoft.com/office/powerpoint/2010/main" val="2878976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7FB655-EA2E-CD1A-8338-CB5C51175DE4}"/>
            </a:ext>
          </a:extLst>
        </p:cNvPr>
        <p:cNvGrpSpPr/>
        <p:nvPr/>
      </p:nvGrpSpPr>
      <p:grpSpPr>
        <a:xfrm>
          <a:off x="0" y="0"/>
          <a:ext cx="0" cy="0"/>
          <a:chOff x="0" y="0"/>
          <a:chExt cx="0" cy="0"/>
        </a:xfrm>
      </p:grpSpPr>
      <p:pic>
        <p:nvPicPr>
          <p:cNvPr id="2" name="Picture 1" descr="A diagram of a system&#10;&#10;AI-generated content may be incorrect.">
            <a:extLst>
              <a:ext uri="{FF2B5EF4-FFF2-40B4-BE49-F238E27FC236}">
                <a16:creationId xmlns:a16="http://schemas.microsoft.com/office/drawing/2014/main" id="{C1AECEC8-5969-E3B4-F901-63AD03849B87}"/>
              </a:ext>
            </a:extLst>
          </p:cNvPr>
          <p:cNvPicPr>
            <a:picLocks noChangeAspect="1"/>
          </p:cNvPicPr>
          <p:nvPr/>
        </p:nvPicPr>
        <p:blipFill>
          <a:blip r:embed="rId3"/>
          <a:stretch>
            <a:fillRect/>
          </a:stretch>
        </p:blipFill>
        <p:spPr>
          <a:xfrm>
            <a:off x="599739" y="168129"/>
            <a:ext cx="4353261" cy="6521741"/>
          </a:xfrm>
          <a:prstGeom prst="rect">
            <a:avLst/>
          </a:prstGeom>
        </p:spPr>
      </p:pic>
      <p:pic>
        <p:nvPicPr>
          <p:cNvPr id="2050" name="Picture 2" descr="Scientific diagram contrasting traditional quantum spin simulations with AI surrogate accelerated quantum simulations.">
            <a:extLst>
              <a:ext uri="{FF2B5EF4-FFF2-40B4-BE49-F238E27FC236}">
                <a16:creationId xmlns:a16="http://schemas.microsoft.com/office/drawing/2014/main" id="{775E30E8-1756-9802-9C60-7F77DBB166A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484449" y="308587"/>
            <a:ext cx="6240826" cy="6240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3985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DC139-BA2B-3298-E9C9-C32F1010A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6FAE4E-A6A8-A44A-64C8-A75976C38197}"/>
              </a:ext>
            </a:extLst>
          </p:cNvPr>
          <p:cNvSpPr>
            <a:spLocks noGrp="1"/>
          </p:cNvSpPr>
          <p:nvPr>
            <p:ph type="title"/>
          </p:nvPr>
        </p:nvSpPr>
        <p:spPr>
          <a:xfrm>
            <a:off x="171451" y="336550"/>
            <a:ext cx="10515600" cy="701675"/>
          </a:xfrm>
        </p:spPr>
        <p:txBody>
          <a:bodyPr/>
          <a:lstStyle/>
          <a:p>
            <a:r>
              <a:rPr lang="en-IN" dirty="0"/>
              <a:t>Research my model builds on</a:t>
            </a:r>
          </a:p>
        </p:txBody>
      </p:sp>
      <p:sp>
        <p:nvSpPr>
          <p:cNvPr id="3" name="Content Placeholder 2">
            <a:extLst>
              <a:ext uri="{FF2B5EF4-FFF2-40B4-BE49-F238E27FC236}">
                <a16:creationId xmlns:a16="http://schemas.microsoft.com/office/drawing/2014/main" id="{647D7AE2-0602-C043-5413-F2423CADF6AC}"/>
              </a:ext>
            </a:extLst>
          </p:cNvPr>
          <p:cNvSpPr>
            <a:spLocks noGrp="1"/>
          </p:cNvSpPr>
          <p:nvPr>
            <p:ph idx="1"/>
          </p:nvPr>
        </p:nvSpPr>
        <p:spPr>
          <a:xfrm>
            <a:off x="171451" y="1196974"/>
            <a:ext cx="12020550" cy="5661025"/>
          </a:xfrm>
        </p:spPr>
        <p:txBody>
          <a:bodyPr>
            <a:normAutofit/>
          </a:bodyPr>
          <a:lstStyle/>
          <a:p>
            <a:pPr marL="0" indent="0">
              <a:buNone/>
            </a:pPr>
            <a:r>
              <a:rPr lang="en-US" sz="2400" dirty="0"/>
              <a:t>In quantum mechanics, the wavefunction(</a:t>
            </a:r>
            <a:r>
              <a:rPr lang="el-GR" sz="2400" dirty="0"/>
              <a:t>Ψ</a:t>
            </a:r>
            <a:r>
              <a:rPr lang="en-US" sz="2400" dirty="0"/>
              <a:t>) tells us the complete characteristics and </a:t>
            </a:r>
            <a:r>
              <a:rPr lang="en-US" sz="2400" dirty="0" err="1"/>
              <a:t>behaviour</a:t>
            </a:r>
            <a:r>
              <a:rPr lang="en-US" sz="2400" dirty="0"/>
              <a:t> of a quantum system. For a large system containing many particles, this wavefunction is very difficult to computationally calculate. </a:t>
            </a:r>
          </a:p>
          <a:p>
            <a:pPr marL="0" indent="0">
              <a:buNone/>
            </a:pPr>
            <a:r>
              <a:rPr lang="en-US" sz="2400" dirty="0"/>
              <a:t>This is where NNQS comes in. Neural Network Quantum State is an ML surrogate that becomes the model of the quantum state. Instead of calculating </a:t>
            </a:r>
            <a:r>
              <a:rPr lang="el-GR" sz="2400" dirty="0"/>
              <a:t>Ψ</a:t>
            </a:r>
            <a:r>
              <a:rPr lang="en-US" sz="2400" dirty="0"/>
              <a:t>, our NN learns to approximate it.</a:t>
            </a:r>
          </a:p>
          <a:p>
            <a:pPr marL="0" indent="0">
              <a:buNone/>
            </a:pPr>
            <a:r>
              <a:rPr lang="en-US" sz="2400" dirty="0"/>
              <a:t>The first paper that introduced this idea is the *</a:t>
            </a:r>
            <a:r>
              <a:rPr lang="en-US" sz="2400" i="1" dirty="0"/>
              <a:t>Carleo &amp; Troyer (2017): “Solving the Quantum Many-Body Problem with Artificial Neural Networks”</a:t>
            </a:r>
          </a:p>
          <a:p>
            <a:pPr marL="0" indent="0">
              <a:buNone/>
            </a:pPr>
            <a:r>
              <a:rPr lang="en-IN" sz="2400" dirty="0"/>
              <a:t>Another paper describing how Agentic AI helps optimize scientific workflows is the *</a:t>
            </a:r>
            <a:r>
              <a:rPr lang="en-IN" sz="2400" i="1" dirty="0"/>
              <a:t>“</a:t>
            </a:r>
            <a:r>
              <a:rPr lang="en-US" sz="2400" i="1" dirty="0"/>
              <a:t>Müller et al. (2020): "Revolution of Scientific Workflows in the Agentic AI Era”. </a:t>
            </a:r>
            <a:r>
              <a:rPr lang="en-US" sz="2400" dirty="0"/>
              <a:t>It shows how Agentic AI reduces manual effort and hence accelerates discovery.</a:t>
            </a:r>
          </a:p>
          <a:p>
            <a:pPr marL="0" indent="0">
              <a:buNone/>
            </a:pPr>
            <a:r>
              <a:rPr lang="en-IN" sz="2400" dirty="0"/>
              <a:t>My model </a:t>
            </a:r>
            <a:r>
              <a:rPr lang="en-US" sz="2400" dirty="0"/>
              <a:t>applies both NN surrogates and agentic workflows directly to practical quantum simulation tasks(parameter selection, interpreting outputs, estimating results)</a:t>
            </a:r>
          </a:p>
        </p:txBody>
      </p:sp>
      <p:sp>
        <p:nvSpPr>
          <p:cNvPr id="4" name="TextBox 3">
            <a:extLst>
              <a:ext uri="{FF2B5EF4-FFF2-40B4-BE49-F238E27FC236}">
                <a16:creationId xmlns:a16="http://schemas.microsoft.com/office/drawing/2014/main" id="{1DAF8B97-C518-3663-87A4-FC53F13EF04B}"/>
              </a:ext>
            </a:extLst>
          </p:cNvPr>
          <p:cNvSpPr txBox="1"/>
          <p:nvPr/>
        </p:nvSpPr>
        <p:spPr>
          <a:xfrm>
            <a:off x="171451" y="6198284"/>
            <a:ext cx="3352800" cy="646331"/>
          </a:xfrm>
          <a:prstGeom prst="rect">
            <a:avLst/>
          </a:prstGeom>
          <a:noFill/>
        </p:spPr>
        <p:txBody>
          <a:bodyPr wrap="square" rtlCol="0">
            <a:spAutoFit/>
          </a:bodyPr>
          <a:lstStyle/>
          <a:p>
            <a:r>
              <a:rPr lang="en-US" dirty="0"/>
              <a:t>*3</a:t>
            </a:r>
          </a:p>
          <a:p>
            <a:r>
              <a:rPr lang="en-US" dirty="0"/>
              <a:t>*4</a:t>
            </a:r>
            <a:endParaRPr lang="en-IN" dirty="0"/>
          </a:p>
        </p:txBody>
      </p:sp>
    </p:spTree>
    <p:extLst>
      <p:ext uri="{BB962C8B-B14F-4D97-AF65-F5344CB8AC3E}">
        <p14:creationId xmlns:p14="http://schemas.microsoft.com/office/powerpoint/2010/main" val="3113156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a:xfrm>
            <a:off x="276225" y="0"/>
            <a:ext cx="10515600" cy="949325"/>
          </a:xfrm>
        </p:spPr>
        <p:txBody>
          <a:bodyPr/>
          <a:lstStyle/>
          <a:p>
            <a:r>
              <a:rPr lang="en-IN" dirty="0"/>
              <a:t>Literature Review</a:t>
            </a:r>
          </a:p>
        </p:txBody>
      </p:sp>
      <p:graphicFrame>
        <p:nvGraphicFramePr>
          <p:cNvPr id="6" name="Table 5">
            <a:extLst>
              <a:ext uri="{FF2B5EF4-FFF2-40B4-BE49-F238E27FC236}">
                <a16:creationId xmlns:a16="http://schemas.microsoft.com/office/drawing/2014/main" id="{D4882655-8114-3B26-895E-86540BDECB51}"/>
              </a:ext>
            </a:extLst>
          </p:cNvPr>
          <p:cNvGraphicFramePr>
            <a:graphicFrameLocks noGrp="1"/>
          </p:cNvGraphicFramePr>
          <p:nvPr>
            <p:extLst>
              <p:ext uri="{D42A27DB-BD31-4B8C-83A1-F6EECF244321}">
                <p14:modId xmlns:p14="http://schemas.microsoft.com/office/powerpoint/2010/main" val="2367019213"/>
              </p:ext>
            </p:extLst>
          </p:nvPr>
        </p:nvGraphicFramePr>
        <p:xfrm>
          <a:off x="276225" y="949325"/>
          <a:ext cx="11582404" cy="5457825"/>
        </p:xfrm>
        <a:graphic>
          <a:graphicData uri="http://schemas.openxmlformats.org/drawingml/2006/table">
            <a:tbl>
              <a:tblPr/>
              <a:tblGrid>
                <a:gridCol w="2895601">
                  <a:extLst>
                    <a:ext uri="{9D8B030D-6E8A-4147-A177-3AD203B41FA5}">
                      <a16:colId xmlns:a16="http://schemas.microsoft.com/office/drawing/2014/main" val="3586344706"/>
                    </a:ext>
                  </a:extLst>
                </a:gridCol>
                <a:gridCol w="2895601">
                  <a:extLst>
                    <a:ext uri="{9D8B030D-6E8A-4147-A177-3AD203B41FA5}">
                      <a16:colId xmlns:a16="http://schemas.microsoft.com/office/drawing/2014/main" val="3925451508"/>
                    </a:ext>
                  </a:extLst>
                </a:gridCol>
                <a:gridCol w="2895601">
                  <a:extLst>
                    <a:ext uri="{9D8B030D-6E8A-4147-A177-3AD203B41FA5}">
                      <a16:colId xmlns:a16="http://schemas.microsoft.com/office/drawing/2014/main" val="3897637475"/>
                    </a:ext>
                  </a:extLst>
                </a:gridCol>
                <a:gridCol w="2895601">
                  <a:extLst>
                    <a:ext uri="{9D8B030D-6E8A-4147-A177-3AD203B41FA5}">
                      <a16:colId xmlns:a16="http://schemas.microsoft.com/office/drawing/2014/main" val="2233389537"/>
                    </a:ext>
                  </a:extLst>
                </a:gridCol>
              </a:tblGrid>
              <a:tr h="767576">
                <a:tc>
                  <a:txBody>
                    <a:bodyPr/>
                    <a:lstStyle/>
                    <a:p>
                      <a:pPr algn="l">
                        <a:buNone/>
                      </a:pPr>
                      <a:r>
                        <a:rPr lang="en-IN" sz="1700" b="1">
                          <a:effectLst/>
                        </a:rPr>
                        <a:t>Project/Approach</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700" b="1" dirty="0">
                          <a:effectLst/>
                        </a:rPr>
                        <a:t>Pros(carried forward)</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700" b="1" dirty="0">
                          <a:effectLst/>
                        </a:rPr>
                        <a:t>Cons(minimized)</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700" b="1" dirty="0">
                          <a:effectLst/>
                        </a:rPr>
                        <a:t>My Project's Improvements</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003477636"/>
                  </a:ext>
                </a:extLst>
              </a:tr>
              <a:tr h="1091565">
                <a:tc>
                  <a:txBody>
                    <a:bodyPr/>
                    <a:lstStyle/>
                    <a:p>
                      <a:pPr algn="l">
                        <a:buNone/>
                      </a:pPr>
                      <a:r>
                        <a:rPr lang="es-ES" sz="1700" dirty="0">
                          <a:effectLst/>
                        </a:rPr>
                        <a:t>El Agente Q(LLM </a:t>
                      </a:r>
                      <a:r>
                        <a:rPr lang="es-ES" sz="1700" dirty="0" err="1">
                          <a:effectLst/>
                        </a:rPr>
                        <a:t>agent</a:t>
                      </a:r>
                      <a:r>
                        <a:rPr lang="es-ES" sz="1700" dirty="0">
                          <a:effectLst/>
                        </a:rPr>
                        <a:t>), 2025*</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marL="285750" indent="-285750" algn="l">
                        <a:buFontTx/>
                        <a:buChar char="-"/>
                      </a:pPr>
                      <a:r>
                        <a:rPr lang="en-US" sz="1700" dirty="0">
                          <a:effectLst/>
                        </a:rPr>
                        <a:t>Powerful automation via natural language </a:t>
                      </a:r>
                    </a:p>
                    <a:p>
                      <a:pPr marL="285750" indent="-285750" algn="l">
                        <a:buFontTx/>
                        <a:buChar char="-"/>
                      </a:pPr>
                      <a:r>
                        <a:rPr lang="en-US" sz="1700" dirty="0">
                          <a:effectLst/>
                        </a:rPr>
                        <a:t>Tool orchestration</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marL="285750" indent="-285750" algn="l">
                        <a:buFontTx/>
                        <a:buChar char="-"/>
                      </a:pPr>
                      <a:r>
                        <a:rPr lang="en-US" sz="1700" dirty="0">
                          <a:effectLst/>
                        </a:rPr>
                        <a:t>LLMs </a:t>
                      </a:r>
                      <a:r>
                        <a:rPr lang="en-US" sz="1700">
                          <a:effectLst/>
                        </a:rPr>
                        <a:t>can hallucinate</a:t>
                      </a:r>
                      <a:endParaRPr lang="en-US" sz="1700" dirty="0">
                        <a:effectLst/>
                      </a:endParaRPr>
                    </a:p>
                    <a:p>
                      <a:pPr marL="285750" indent="-285750" algn="l">
                        <a:buFontTx/>
                        <a:buChar char="-"/>
                      </a:pPr>
                      <a:r>
                        <a:rPr lang="en-US" sz="1700" dirty="0">
                          <a:effectLst/>
                        </a:rPr>
                        <a:t>Complex for non-experts </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US" sz="1700" dirty="0">
                          <a:effectLst/>
                        </a:rPr>
                        <a:t>Uses Agentic AI, has simplified guidance</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182717598"/>
                  </a:ext>
                </a:extLst>
              </a:tr>
              <a:tr h="1415554">
                <a:tc>
                  <a:txBody>
                    <a:bodyPr/>
                    <a:lstStyle/>
                    <a:p>
                      <a:pPr algn="l">
                        <a:buNone/>
                      </a:pPr>
                      <a:r>
                        <a:rPr lang="en-IN" sz="1700" dirty="0">
                          <a:effectLst/>
                        </a:rPr>
                        <a:t>ML Surrogates (Nature 2019)</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marL="285750" indent="-285750" algn="l">
                        <a:buFontTx/>
                        <a:buChar char="-"/>
                      </a:pPr>
                      <a:r>
                        <a:rPr lang="en-US" sz="1700" dirty="0">
                          <a:effectLst/>
                        </a:rPr>
                        <a:t>Fast, accurate predictions of quantum properties </a:t>
                      </a:r>
                    </a:p>
                    <a:p>
                      <a:pPr marL="285750" indent="-285750" algn="l">
                        <a:buFontTx/>
                        <a:buChar char="-"/>
                      </a:pPr>
                      <a:r>
                        <a:rPr lang="en-US" sz="1700" dirty="0">
                          <a:effectLst/>
                        </a:rPr>
                        <a:t>ML generalizability</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marL="285750" indent="-285750" algn="l">
                        <a:buFontTx/>
                        <a:buChar char="-"/>
                      </a:pPr>
                      <a:r>
                        <a:rPr lang="en-US" sz="1700" dirty="0">
                          <a:effectLst/>
                        </a:rPr>
                        <a:t>Not integrated with workflows </a:t>
                      </a:r>
                    </a:p>
                    <a:p>
                      <a:pPr marL="285750" indent="-285750" algn="l">
                        <a:buFontTx/>
                        <a:buChar char="-"/>
                      </a:pPr>
                      <a:r>
                        <a:rPr lang="en-US" sz="1700" dirty="0">
                          <a:effectLst/>
                        </a:rPr>
                        <a:t>Less user-facing</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US" sz="1700">
                          <a:effectLst/>
                        </a:rPr>
                        <a:t>Integrated into workflow, instant feedback</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8431658"/>
                  </a:ext>
                </a:extLst>
              </a:tr>
              <a:tr h="1091565">
                <a:tc>
                  <a:txBody>
                    <a:bodyPr/>
                    <a:lstStyle/>
                    <a:p>
                      <a:pPr algn="l">
                        <a:buNone/>
                      </a:pPr>
                      <a:r>
                        <a:rPr lang="en-IN" sz="1700" dirty="0">
                          <a:effectLst/>
                        </a:rPr>
                        <a:t>Design Agents (RL, Innsbruck)*</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marL="285750" indent="-285750" algn="l">
                        <a:buFontTx/>
                        <a:buChar char="-"/>
                      </a:pPr>
                      <a:r>
                        <a:rPr lang="en-US" sz="1700" dirty="0">
                          <a:effectLst/>
                        </a:rPr>
                        <a:t>Adaptive learning</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marL="285750" indent="-285750" algn="l">
                        <a:buFontTx/>
                        <a:buChar char="-"/>
                      </a:pPr>
                      <a:r>
                        <a:rPr lang="en-US" sz="1700" dirty="0">
                          <a:effectLst/>
                        </a:rPr>
                        <a:t>Narrow use case (experiment setup) </a:t>
                      </a:r>
                    </a:p>
                    <a:p>
                      <a:pPr marL="285750" indent="-285750" algn="l">
                        <a:buFontTx/>
                        <a:buChar char="-"/>
                      </a:pPr>
                      <a:r>
                        <a:rPr lang="en-US" sz="1700" dirty="0">
                          <a:effectLst/>
                        </a:rPr>
                        <a:t>Not an accessible UI</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700" dirty="0">
                          <a:effectLst/>
                        </a:rPr>
                        <a:t>Broader workflow, interactive UI</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252828955"/>
                  </a:ext>
                </a:extLst>
              </a:tr>
              <a:tr h="1091565">
                <a:tc>
                  <a:txBody>
                    <a:bodyPr/>
                    <a:lstStyle/>
                    <a:p>
                      <a:pPr algn="l">
                        <a:buNone/>
                      </a:pPr>
                      <a:r>
                        <a:rPr lang="en-IN" sz="1700" dirty="0" err="1">
                          <a:effectLst/>
                        </a:rPr>
                        <a:t>SpinQ</a:t>
                      </a:r>
                      <a:r>
                        <a:rPr lang="en-IN" sz="1700" dirty="0">
                          <a:effectLst/>
                        </a:rPr>
                        <a:t> Quantum AI Lab*</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marL="285750" indent="-285750" algn="l">
                        <a:buFontTx/>
                        <a:buChar char="-"/>
                      </a:pPr>
                      <a:r>
                        <a:rPr lang="en-US" sz="1700" dirty="0">
                          <a:effectLst/>
                        </a:rPr>
                        <a:t>Cutting-edge algorithms </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marL="285750" indent="-285750" algn="l">
                        <a:buFontTx/>
                        <a:buChar char="-"/>
                      </a:pPr>
                      <a:r>
                        <a:rPr lang="en-US" sz="1700" dirty="0">
                          <a:effectLst/>
                        </a:rPr>
                        <a:t>Research/hardware focus </a:t>
                      </a:r>
                    </a:p>
                    <a:p>
                      <a:pPr marL="285750" indent="-285750" algn="l">
                        <a:buFontTx/>
                        <a:buChar char="-"/>
                      </a:pPr>
                      <a:r>
                        <a:rPr lang="en-US" sz="1700" dirty="0">
                          <a:effectLst/>
                        </a:rPr>
                        <a:t>Not designed for accessible interaction</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700" dirty="0">
                          <a:effectLst/>
                        </a:rPr>
                        <a:t>Software-first, user-focused</a:t>
                      </a:r>
                    </a:p>
                  </a:txBody>
                  <a:tcPr marL="47817" marR="47817" marT="47817" marB="47817"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360043405"/>
                  </a:ext>
                </a:extLst>
              </a:tr>
            </a:tbl>
          </a:graphicData>
        </a:graphic>
      </p:graphicFrame>
      <p:sp>
        <p:nvSpPr>
          <p:cNvPr id="3" name="TextBox 2">
            <a:extLst>
              <a:ext uri="{FF2B5EF4-FFF2-40B4-BE49-F238E27FC236}">
                <a16:creationId xmlns:a16="http://schemas.microsoft.com/office/drawing/2014/main" id="{35D4E10E-D183-B7EE-F707-698296A1667D}"/>
              </a:ext>
            </a:extLst>
          </p:cNvPr>
          <p:cNvSpPr txBox="1"/>
          <p:nvPr/>
        </p:nvSpPr>
        <p:spPr>
          <a:xfrm>
            <a:off x="276225" y="6486525"/>
            <a:ext cx="6467475" cy="369332"/>
          </a:xfrm>
          <a:prstGeom prst="rect">
            <a:avLst/>
          </a:prstGeom>
          <a:noFill/>
        </p:spPr>
        <p:txBody>
          <a:bodyPr wrap="square" rtlCol="0">
            <a:spAutoFit/>
          </a:bodyPr>
          <a:lstStyle/>
          <a:p>
            <a:r>
              <a:rPr lang="en-US" dirty="0"/>
              <a:t>*5,6  *7  *8 </a:t>
            </a:r>
            <a:endParaRPr lang="en-IN" dirty="0"/>
          </a:p>
        </p:txBody>
      </p:sp>
    </p:spTree>
    <p:extLst>
      <p:ext uri="{BB962C8B-B14F-4D97-AF65-F5344CB8AC3E}">
        <p14:creationId xmlns:p14="http://schemas.microsoft.com/office/powerpoint/2010/main" val="310308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a:xfrm>
            <a:off x="838200" y="584200"/>
            <a:ext cx="10515600" cy="1325563"/>
          </a:xfrm>
        </p:spPr>
        <p:txBody>
          <a:bodyPr/>
          <a:lstStyle/>
          <a:p>
            <a:r>
              <a:rPr lang="en-IN"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a:xfrm>
            <a:off x="838200" y="2552699"/>
            <a:ext cx="10515600" cy="3624263"/>
          </a:xfrm>
        </p:spPr>
        <p:txBody>
          <a:bodyPr/>
          <a:lstStyle/>
          <a:p>
            <a:r>
              <a:rPr lang="en-US" dirty="0"/>
              <a:t>Choosing correct solver parameters like basis sets, cutoff energies, and time steps is hard and time consuming.</a:t>
            </a:r>
          </a:p>
          <a:p>
            <a:r>
              <a:rPr lang="en-US" dirty="0"/>
              <a:t>Simulation outputs (logs, energies, spectra) are difficult to interpret.</a:t>
            </a:r>
          </a:p>
          <a:p>
            <a:r>
              <a:rPr lang="en-US" dirty="0"/>
              <a:t>ML surrogate models are not integrated into scientific workflows.</a:t>
            </a:r>
          </a:p>
          <a:p>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374707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D43EA-7005-6011-D950-2B771C0D76C9}"/>
              </a:ext>
            </a:extLst>
          </p:cNvPr>
          <p:cNvSpPr>
            <a:spLocks noGrp="1"/>
          </p:cNvSpPr>
          <p:nvPr>
            <p:ph type="title"/>
          </p:nvPr>
        </p:nvSpPr>
        <p:spPr/>
        <p:txBody>
          <a:bodyPr/>
          <a:lstStyle/>
          <a:p>
            <a:r>
              <a:rPr lang="en-US" dirty="0"/>
              <a:t>Proposed Solution</a:t>
            </a:r>
            <a:endParaRPr lang="en-IN" dirty="0"/>
          </a:p>
        </p:txBody>
      </p:sp>
      <p:sp>
        <p:nvSpPr>
          <p:cNvPr id="3" name="Content Placeholder 2">
            <a:extLst>
              <a:ext uri="{FF2B5EF4-FFF2-40B4-BE49-F238E27FC236}">
                <a16:creationId xmlns:a16="http://schemas.microsoft.com/office/drawing/2014/main" id="{3F4F8885-9D29-5CE6-6C2E-38FD8419CE67}"/>
              </a:ext>
            </a:extLst>
          </p:cNvPr>
          <p:cNvSpPr>
            <a:spLocks noGrp="1"/>
          </p:cNvSpPr>
          <p:nvPr>
            <p:ph idx="1"/>
          </p:nvPr>
        </p:nvSpPr>
        <p:spPr/>
        <p:txBody>
          <a:bodyPr/>
          <a:lstStyle/>
          <a:p>
            <a:r>
              <a:rPr lang="en-US" dirty="0"/>
              <a:t>My solution aims to create an Agentic AI solution that guides users through complex quantum simulations by recommending optimal parameters, interpreting simulation outputs in simple language, and providing fast predictions using machine learning surrogates.</a:t>
            </a:r>
          </a:p>
          <a:p>
            <a:r>
              <a:rPr lang="en-US" dirty="0"/>
              <a:t> This is integrated with a quantum simulation tool and presented via a web dashboard for enhanced user experience.</a:t>
            </a:r>
            <a:endParaRPr lang="en-IN" dirty="0"/>
          </a:p>
        </p:txBody>
      </p:sp>
    </p:spTree>
    <p:extLst>
      <p:ext uri="{BB962C8B-B14F-4D97-AF65-F5344CB8AC3E}">
        <p14:creationId xmlns:p14="http://schemas.microsoft.com/office/powerpoint/2010/main" val="601080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C1603-9968-8D74-E665-080B755CC017}"/>
              </a:ext>
            </a:extLst>
          </p:cNvPr>
          <p:cNvSpPr>
            <a:spLocks noGrp="1"/>
          </p:cNvSpPr>
          <p:nvPr>
            <p:ph type="title"/>
          </p:nvPr>
        </p:nvSpPr>
        <p:spPr>
          <a:xfrm>
            <a:off x="352425" y="298450"/>
            <a:ext cx="10515600" cy="758825"/>
          </a:xfrm>
        </p:spPr>
        <p:txBody>
          <a:bodyPr>
            <a:normAutofit/>
          </a:bodyPr>
          <a:lstStyle/>
          <a:p>
            <a:r>
              <a:rPr lang="en-US" dirty="0"/>
              <a:t>Proposed Solution-Phases</a:t>
            </a:r>
            <a:endParaRPr lang="en-IN" dirty="0"/>
          </a:p>
        </p:txBody>
      </p:sp>
      <p:sp>
        <p:nvSpPr>
          <p:cNvPr id="3" name="Content Placeholder 2">
            <a:extLst>
              <a:ext uri="{FF2B5EF4-FFF2-40B4-BE49-F238E27FC236}">
                <a16:creationId xmlns:a16="http://schemas.microsoft.com/office/drawing/2014/main" id="{AB83C190-4CE0-E4E0-1A45-01ECB8715374}"/>
              </a:ext>
            </a:extLst>
          </p:cNvPr>
          <p:cNvSpPr>
            <a:spLocks noGrp="1"/>
          </p:cNvSpPr>
          <p:nvPr>
            <p:ph idx="1"/>
          </p:nvPr>
        </p:nvSpPr>
        <p:spPr>
          <a:xfrm>
            <a:off x="352425" y="1057275"/>
            <a:ext cx="11610975" cy="5648325"/>
          </a:xfrm>
        </p:spPr>
        <p:txBody>
          <a:bodyPr>
            <a:normAutofit fontScale="92500" lnSpcReduction="20000"/>
          </a:bodyPr>
          <a:lstStyle/>
          <a:p>
            <a:pPr>
              <a:lnSpc>
                <a:spcPct val="120000"/>
              </a:lnSpc>
            </a:pPr>
            <a:r>
              <a:rPr lang="en-IN" dirty="0"/>
              <a:t>Phase 1: Parameter Guidance</a:t>
            </a:r>
          </a:p>
          <a:p>
            <a:pPr lvl="1">
              <a:lnSpc>
                <a:spcPct val="120000"/>
              </a:lnSpc>
            </a:pPr>
            <a:r>
              <a:rPr lang="en-IN" dirty="0"/>
              <a:t>Build agent flows to recommend simulation settings based on user inputs.</a:t>
            </a:r>
          </a:p>
          <a:p>
            <a:pPr>
              <a:lnSpc>
                <a:spcPct val="120000"/>
              </a:lnSpc>
            </a:pPr>
            <a:r>
              <a:rPr lang="en-IN" dirty="0"/>
              <a:t>Phase 2: ML Surrogate Integration</a:t>
            </a:r>
          </a:p>
          <a:p>
            <a:pPr lvl="1">
              <a:lnSpc>
                <a:spcPct val="120000"/>
              </a:lnSpc>
            </a:pPr>
            <a:r>
              <a:rPr lang="en-IN" dirty="0"/>
              <a:t>Train and deploy surrogate ML models for rapid prediction of key quantum results.</a:t>
            </a:r>
          </a:p>
          <a:p>
            <a:pPr lvl="1">
              <a:lnSpc>
                <a:spcPct val="120000"/>
              </a:lnSpc>
            </a:pPr>
            <a:r>
              <a:rPr lang="en-IN" dirty="0"/>
              <a:t>Connect surrogate predictions seamlessly with ongoing simulations for real-time feedback.</a:t>
            </a:r>
          </a:p>
          <a:p>
            <a:pPr>
              <a:lnSpc>
                <a:spcPct val="120000"/>
              </a:lnSpc>
            </a:pPr>
            <a:r>
              <a:rPr lang="en-IN" dirty="0"/>
              <a:t>Phase 3: Simulation Toolkit Connectivity</a:t>
            </a:r>
          </a:p>
          <a:p>
            <a:pPr lvl="1">
              <a:lnSpc>
                <a:spcPct val="120000"/>
              </a:lnSpc>
            </a:pPr>
            <a:r>
              <a:rPr lang="en-IN" dirty="0"/>
              <a:t>Enable backend connection to major quantum simulation packages like </a:t>
            </a:r>
            <a:r>
              <a:rPr lang="en-IN" dirty="0" err="1"/>
              <a:t>QuTiP</a:t>
            </a:r>
            <a:endParaRPr lang="en-IN" dirty="0"/>
          </a:p>
          <a:p>
            <a:pPr lvl="1">
              <a:lnSpc>
                <a:spcPct val="120000"/>
              </a:lnSpc>
            </a:pPr>
            <a:r>
              <a:rPr lang="en-IN" dirty="0"/>
              <a:t>Ensure smooth data exchange and workflow orchestration across tools.</a:t>
            </a:r>
          </a:p>
          <a:p>
            <a:pPr>
              <a:lnSpc>
                <a:spcPct val="120000"/>
              </a:lnSpc>
            </a:pPr>
            <a:r>
              <a:rPr lang="en-IN" dirty="0"/>
              <a:t>Phase 4: User Interface &amp; Experience</a:t>
            </a:r>
          </a:p>
          <a:p>
            <a:pPr lvl="1">
              <a:lnSpc>
                <a:spcPct val="120000"/>
              </a:lnSpc>
            </a:pPr>
            <a:r>
              <a:rPr lang="en-IN" dirty="0"/>
              <a:t>Parse simulation outputs and present plain-language summaries.</a:t>
            </a:r>
          </a:p>
          <a:p>
            <a:pPr lvl="1">
              <a:lnSpc>
                <a:spcPct val="120000"/>
              </a:lnSpc>
            </a:pPr>
            <a:r>
              <a:rPr lang="en-IN" dirty="0"/>
              <a:t>Build a user-friendly web dashboard displaying simulation status, outputs, and surrogate insights.</a:t>
            </a:r>
          </a:p>
          <a:p>
            <a:pPr marL="457200" lvl="1" indent="0">
              <a:lnSpc>
                <a:spcPct val="120000"/>
              </a:lnSpc>
              <a:buNone/>
            </a:pPr>
            <a:endParaRPr lang="en-IN" dirty="0"/>
          </a:p>
          <a:p>
            <a:pPr lvl="1">
              <a:lnSpc>
                <a:spcPct val="120000"/>
              </a:lnSpc>
            </a:pPr>
            <a:endParaRPr lang="en-IN" dirty="0"/>
          </a:p>
          <a:p>
            <a:pPr marL="0" indent="0">
              <a:buNone/>
            </a:pPr>
            <a:endParaRPr lang="en-IN" dirty="0"/>
          </a:p>
        </p:txBody>
      </p:sp>
    </p:spTree>
    <p:extLst>
      <p:ext uri="{BB962C8B-B14F-4D97-AF65-F5344CB8AC3E}">
        <p14:creationId xmlns:p14="http://schemas.microsoft.com/office/powerpoint/2010/main" val="2344647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CE3E25AA-71BA-D0F6-3993-32491BD06DD7}"/>
              </a:ext>
            </a:extLst>
          </p:cNvPr>
          <p:cNvSpPr>
            <a:spLocks noGrp="1"/>
          </p:cNvSpPr>
          <p:nvPr>
            <p:ph idx="1"/>
          </p:nvPr>
        </p:nvSpPr>
        <p:spPr/>
        <p:txBody>
          <a:bodyPr/>
          <a:lstStyle/>
          <a:p>
            <a:r>
              <a:rPr lang="en-US" dirty="0"/>
              <a:t>Develop foundational skills in AI &amp; ML through hands-on model building, deployment, and testing.</a:t>
            </a:r>
          </a:p>
          <a:p>
            <a:r>
              <a:rPr lang="en-US" dirty="0"/>
              <a:t>Gain practical exposure to quantum simulation techniques and learn how modern AI models (especially neural networks) can accelerate quantum research.</a:t>
            </a:r>
          </a:p>
          <a:p>
            <a:r>
              <a:rPr lang="en-US" dirty="0"/>
              <a:t>Learn how to integrate agentic AI tools (such as Salesforce </a:t>
            </a:r>
            <a:r>
              <a:rPr lang="en-US" dirty="0" err="1"/>
              <a:t>Agentforce</a:t>
            </a:r>
            <a:r>
              <a:rPr lang="en-US" dirty="0"/>
              <a:t>) into complex scientific workflows.</a:t>
            </a:r>
          </a:p>
          <a:p>
            <a:r>
              <a:rPr lang="en-US" dirty="0"/>
              <a:t>Acquire end-to-end project execution skills, from research and design to technology selection and implementation.</a:t>
            </a:r>
          </a:p>
        </p:txBody>
      </p:sp>
    </p:spTree>
    <p:extLst>
      <p:ext uri="{BB962C8B-B14F-4D97-AF65-F5344CB8AC3E}">
        <p14:creationId xmlns:p14="http://schemas.microsoft.com/office/powerpoint/2010/main" val="3547097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D6A087-0E03-9DBD-1EE7-6BF7337FF316}"/>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Comparitive Study</a:t>
            </a:r>
            <a:endParaRPr lang="en-IN" sz="4000">
              <a:solidFill>
                <a:srgbClr val="FFFFFF"/>
              </a:solidFill>
            </a:endParaRPr>
          </a:p>
        </p:txBody>
      </p:sp>
      <p:graphicFrame>
        <p:nvGraphicFramePr>
          <p:cNvPr id="4" name="Content Placeholder 3">
            <a:extLst>
              <a:ext uri="{FF2B5EF4-FFF2-40B4-BE49-F238E27FC236}">
                <a16:creationId xmlns:a16="http://schemas.microsoft.com/office/drawing/2014/main" id="{D34E1B7A-E565-8F79-5C9C-0A352CBB8C5E}"/>
              </a:ext>
            </a:extLst>
          </p:cNvPr>
          <p:cNvGraphicFramePr>
            <a:graphicFrameLocks noGrp="1"/>
          </p:cNvGraphicFramePr>
          <p:nvPr>
            <p:ph idx="1"/>
            <p:extLst>
              <p:ext uri="{D42A27DB-BD31-4B8C-83A1-F6EECF244321}">
                <p14:modId xmlns:p14="http://schemas.microsoft.com/office/powerpoint/2010/main" val="1040019062"/>
              </p:ext>
            </p:extLst>
          </p:nvPr>
        </p:nvGraphicFramePr>
        <p:xfrm>
          <a:off x="295836" y="1837765"/>
          <a:ext cx="11797551" cy="4671366"/>
        </p:xfrm>
        <a:graphic>
          <a:graphicData uri="http://schemas.openxmlformats.org/drawingml/2006/table">
            <a:tbl>
              <a:tblPr firstRow="1" bandRow="1"/>
              <a:tblGrid>
                <a:gridCol w="2344658">
                  <a:extLst>
                    <a:ext uri="{9D8B030D-6E8A-4147-A177-3AD203B41FA5}">
                      <a16:colId xmlns:a16="http://schemas.microsoft.com/office/drawing/2014/main" val="1930872065"/>
                    </a:ext>
                  </a:extLst>
                </a:gridCol>
                <a:gridCol w="1307951">
                  <a:extLst>
                    <a:ext uri="{9D8B030D-6E8A-4147-A177-3AD203B41FA5}">
                      <a16:colId xmlns:a16="http://schemas.microsoft.com/office/drawing/2014/main" val="2756396423"/>
                    </a:ext>
                  </a:extLst>
                </a:gridCol>
                <a:gridCol w="1407031">
                  <a:extLst>
                    <a:ext uri="{9D8B030D-6E8A-4147-A177-3AD203B41FA5}">
                      <a16:colId xmlns:a16="http://schemas.microsoft.com/office/drawing/2014/main" val="3093315840"/>
                    </a:ext>
                  </a:extLst>
                </a:gridCol>
                <a:gridCol w="1143624">
                  <a:extLst>
                    <a:ext uri="{9D8B030D-6E8A-4147-A177-3AD203B41FA5}">
                      <a16:colId xmlns:a16="http://schemas.microsoft.com/office/drawing/2014/main" val="330144433"/>
                    </a:ext>
                  </a:extLst>
                </a:gridCol>
                <a:gridCol w="1172621">
                  <a:extLst>
                    <a:ext uri="{9D8B030D-6E8A-4147-A177-3AD203B41FA5}">
                      <a16:colId xmlns:a16="http://schemas.microsoft.com/office/drawing/2014/main" val="338912217"/>
                    </a:ext>
                  </a:extLst>
                </a:gridCol>
                <a:gridCol w="1477111">
                  <a:extLst>
                    <a:ext uri="{9D8B030D-6E8A-4147-A177-3AD203B41FA5}">
                      <a16:colId xmlns:a16="http://schemas.microsoft.com/office/drawing/2014/main" val="1697537869"/>
                    </a:ext>
                  </a:extLst>
                </a:gridCol>
                <a:gridCol w="1762266">
                  <a:extLst>
                    <a:ext uri="{9D8B030D-6E8A-4147-A177-3AD203B41FA5}">
                      <a16:colId xmlns:a16="http://schemas.microsoft.com/office/drawing/2014/main" val="1121984990"/>
                    </a:ext>
                  </a:extLst>
                </a:gridCol>
                <a:gridCol w="1182289">
                  <a:extLst>
                    <a:ext uri="{9D8B030D-6E8A-4147-A177-3AD203B41FA5}">
                      <a16:colId xmlns:a16="http://schemas.microsoft.com/office/drawing/2014/main" val="2331354308"/>
                    </a:ext>
                  </a:extLst>
                </a:gridCol>
              </a:tblGrid>
              <a:tr h="553509">
                <a:tc>
                  <a:txBody>
                    <a:bodyPr/>
                    <a:lstStyle/>
                    <a:p>
                      <a:pPr algn="l">
                        <a:buNone/>
                      </a:pPr>
                      <a:r>
                        <a:rPr lang="en-IN" sz="1300" b="1">
                          <a:effectLst/>
                        </a:rPr>
                        <a:t>Reference / Approach</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300" b="1">
                          <a:effectLst/>
                        </a:rPr>
                        <a:t>Automation</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300" b="1">
                          <a:effectLst/>
                        </a:rPr>
                        <a:t>Accessibility</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300" b="1">
                          <a:effectLst/>
                        </a:rPr>
                        <a:t>Surrogate ML</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300" b="1">
                          <a:effectLst/>
                        </a:rPr>
                        <a:t>Parameter Guidance</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300" b="1">
                          <a:effectLst/>
                        </a:rPr>
                        <a:t>Output Interpretation</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300" b="1">
                          <a:effectLst/>
                        </a:rPr>
                        <a:t>Workflow Integration</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300" b="1">
                          <a:effectLst/>
                        </a:rPr>
                        <a:t>Scalability</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984672566"/>
                  </a:ext>
                </a:extLst>
              </a:tr>
              <a:tr h="553509">
                <a:tc>
                  <a:txBody>
                    <a:bodyPr/>
                    <a:lstStyle/>
                    <a:p>
                      <a:pPr algn="l">
                        <a:buNone/>
                      </a:pPr>
                      <a:r>
                        <a:rPr lang="es-ES" sz="1300">
                          <a:effectLst/>
                        </a:rPr>
                        <a:t>El Agente Q (LLM agent, 2025)</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Moderate</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Partial</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Multi-tool</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294200150"/>
                  </a:ext>
                </a:extLst>
              </a:tr>
              <a:tr h="553509">
                <a:tc>
                  <a:txBody>
                    <a:bodyPr/>
                    <a:lstStyle/>
                    <a:p>
                      <a:pPr algn="l">
                        <a:buNone/>
                      </a:pPr>
                      <a:r>
                        <a:rPr lang="en-IN" sz="1300">
                          <a:effectLst/>
                        </a:rPr>
                        <a:t>ML Surrogates (Nature 2019)</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Low</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Poor</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276634374"/>
                  </a:ext>
                </a:extLst>
              </a:tr>
              <a:tr h="553509">
                <a:tc>
                  <a:txBody>
                    <a:bodyPr/>
                    <a:lstStyle/>
                    <a:p>
                      <a:pPr algn="l">
                        <a:buNone/>
                      </a:pPr>
                      <a:r>
                        <a:rPr lang="en-IN" sz="1300">
                          <a:effectLst/>
                        </a:rPr>
                        <a:t>Design Agents (RL, Innsbruck)</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Partial</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Low</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Narrow</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340690636"/>
                  </a:ext>
                </a:extLst>
              </a:tr>
              <a:tr h="337578">
                <a:tc>
                  <a:txBody>
                    <a:bodyPr/>
                    <a:lstStyle/>
                    <a:p>
                      <a:pPr algn="l">
                        <a:buNone/>
                      </a:pPr>
                      <a:r>
                        <a:rPr lang="en-IN" sz="1300">
                          <a:effectLst/>
                        </a:rPr>
                        <a:t>SpinQ Quantum AI Lab</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Low</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Poor</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984461143"/>
                  </a:ext>
                </a:extLst>
              </a:tr>
              <a:tr h="553509">
                <a:tc>
                  <a:txBody>
                    <a:bodyPr/>
                    <a:lstStyle/>
                    <a:p>
                      <a:pPr algn="l">
                        <a:buNone/>
                      </a:pPr>
                      <a:r>
                        <a:rPr lang="en-IN" sz="1300">
                          <a:effectLst/>
                        </a:rPr>
                        <a:t>PySCF, ESPRESSO, Qiskit, QuTiP</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Moderate</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Limited</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dirty="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Strong (core only)</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Moderate</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094479250"/>
                  </a:ext>
                </a:extLst>
              </a:tr>
              <a:tr h="337578">
                <a:tc>
                  <a:txBody>
                    <a:bodyPr/>
                    <a:lstStyle/>
                    <a:p>
                      <a:pPr algn="l">
                        <a:buNone/>
                      </a:pPr>
                      <a:r>
                        <a:rPr lang="en-IN" sz="1300">
                          <a:effectLst/>
                        </a:rPr>
                        <a:t>SmartChem</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High</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Partial</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Moderate</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572506436"/>
                  </a:ext>
                </a:extLst>
              </a:tr>
              <a:tr h="337578">
                <a:tc>
                  <a:txBody>
                    <a:bodyPr/>
                    <a:lstStyle/>
                    <a:p>
                      <a:pPr algn="l">
                        <a:buNone/>
                      </a:pPr>
                      <a:r>
                        <a:rPr lang="en-IN" sz="1300">
                          <a:effectLst/>
                        </a:rPr>
                        <a:t>Google Ferminet</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Low</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Poor</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463219185"/>
                  </a:ext>
                </a:extLst>
              </a:tr>
              <a:tr h="553509">
                <a:tc>
                  <a:txBody>
                    <a:bodyPr/>
                    <a:lstStyle/>
                    <a:p>
                      <a:pPr algn="l">
                        <a:buNone/>
                      </a:pPr>
                      <a:r>
                        <a:rPr lang="en-IN" sz="1300">
                          <a:effectLst/>
                        </a:rPr>
                        <a:t>Quantum Surrogate Benchmarks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Low</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No</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Poor</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510400929"/>
                  </a:ext>
                </a:extLst>
              </a:tr>
              <a:tr h="337578">
                <a:tc>
                  <a:txBody>
                    <a:bodyPr/>
                    <a:lstStyle/>
                    <a:p>
                      <a:pPr algn="l">
                        <a:buNone/>
                      </a:pPr>
                      <a:r>
                        <a:rPr lang="en-IN" sz="1300">
                          <a:effectLst/>
                        </a:rPr>
                        <a:t>Proposed Solution</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High</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a:effectLst/>
                        </a:rPr>
                        <a:t>Full</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300" dirty="0">
                          <a:effectLst/>
                        </a:rPr>
                        <a:t>Yes</a:t>
                      </a:r>
                    </a:p>
                  </a:txBody>
                  <a:tcPr marL="31335" marR="31335" marT="31335" marB="31335"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792380187"/>
                  </a:ext>
                </a:extLst>
              </a:tr>
            </a:tbl>
          </a:graphicData>
        </a:graphic>
      </p:graphicFrame>
    </p:spTree>
    <p:extLst>
      <p:ext uri="{BB962C8B-B14F-4D97-AF65-F5344CB8AC3E}">
        <p14:creationId xmlns:p14="http://schemas.microsoft.com/office/powerpoint/2010/main" val="906104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9FE8303-E100-048F-EA2F-879B5780643D}"/>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Project Workflow</a:t>
            </a:r>
          </a:p>
        </p:txBody>
      </p:sp>
      <p:pic>
        <p:nvPicPr>
          <p:cNvPr id="4" name="Content Placeholder 3" descr="A screenshot of a computer screen&#10;&#10;AI-generated content may be incorrect.">
            <a:extLst>
              <a:ext uri="{FF2B5EF4-FFF2-40B4-BE49-F238E27FC236}">
                <a16:creationId xmlns:a16="http://schemas.microsoft.com/office/drawing/2014/main" id="{1C977F3A-DD22-AF1B-B5AA-94CEEAF867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68200" y="-1"/>
            <a:ext cx="3074411" cy="7027225"/>
          </a:xfrm>
          <a:prstGeom prst="rect">
            <a:avLst/>
          </a:prstGeom>
        </p:spPr>
      </p:pic>
    </p:spTree>
    <p:extLst>
      <p:ext uri="{BB962C8B-B14F-4D97-AF65-F5344CB8AC3E}">
        <p14:creationId xmlns:p14="http://schemas.microsoft.com/office/powerpoint/2010/main" val="2454964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5D6E509-5872-8F53-3FC9-4D9806A9CF3F}"/>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Technology Selection</a:t>
            </a:r>
            <a:endParaRPr lang="en-IN" sz="4000">
              <a:solidFill>
                <a:srgbClr val="FFFFFF"/>
              </a:solidFill>
            </a:endParaRPr>
          </a:p>
        </p:txBody>
      </p:sp>
      <p:graphicFrame>
        <p:nvGraphicFramePr>
          <p:cNvPr id="4" name="Content Placeholder 3">
            <a:extLst>
              <a:ext uri="{FF2B5EF4-FFF2-40B4-BE49-F238E27FC236}">
                <a16:creationId xmlns:a16="http://schemas.microsoft.com/office/drawing/2014/main" id="{2ADC71C9-2265-4F99-8432-B1C58EA4622C}"/>
              </a:ext>
            </a:extLst>
          </p:cNvPr>
          <p:cNvGraphicFramePr>
            <a:graphicFrameLocks noGrp="1"/>
          </p:cNvGraphicFramePr>
          <p:nvPr>
            <p:ph idx="1"/>
            <p:extLst>
              <p:ext uri="{D42A27DB-BD31-4B8C-83A1-F6EECF244321}">
                <p14:modId xmlns:p14="http://schemas.microsoft.com/office/powerpoint/2010/main" val="929644562"/>
              </p:ext>
            </p:extLst>
          </p:nvPr>
        </p:nvGraphicFramePr>
        <p:xfrm>
          <a:off x="618564" y="1819835"/>
          <a:ext cx="11116235" cy="4689298"/>
        </p:xfrm>
        <a:graphic>
          <a:graphicData uri="http://schemas.openxmlformats.org/drawingml/2006/table">
            <a:tbl>
              <a:tblPr firstRow="1" bandRow="1"/>
              <a:tblGrid>
                <a:gridCol w="2754359">
                  <a:extLst>
                    <a:ext uri="{9D8B030D-6E8A-4147-A177-3AD203B41FA5}">
                      <a16:colId xmlns:a16="http://schemas.microsoft.com/office/drawing/2014/main" val="224000685"/>
                    </a:ext>
                  </a:extLst>
                </a:gridCol>
                <a:gridCol w="2769928">
                  <a:extLst>
                    <a:ext uri="{9D8B030D-6E8A-4147-A177-3AD203B41FA5}">
                      <a16:colId xmlns:a16="http://schemas.microsoft.com/office/drawing/2014/main" val="329144362"/>
                    </a:ext>
                  </a:extLst>
                </a:gridCol>
                <a:gridCol w="2754359">
                  <a:extLst>
                    <a:ext uri="{9D8B030D-6E8A-4147-A177-3AD203B41FA5}">
                      <a16:colId xmlns:a16="http://schemas.microsoft.com/office/drawing/2014/main" val="3460521898"/>
                    </a:ext>
                  </a:extLst>
                </a:gridCol>
                <a:gridCol w="2837589">
                  <a:extLst>
                    <a:ext uri="{9D8B030D-6E8A-4147-A177-3AD203B41FA5}">
                      <a16:colId xmlns:a16="http://schemas.microsoft.com/office/drawing/2014/main" val="1188960463"/>
                    </a:ext>
                  </a:extLst>
                </a:gridCol>
              </a:tblGrid>
              <a:tr h="454164">
                <a:tc>
                  <a:txBody>
                    <a:bodyPr/>
                    <a:lstStyle/>
                    <a:p>
                      <a:pPr algn="l">
                        <a:buNone/>
                      </a:pPr>
                      <a:r>
                        <a:rPr lang="en-IN" sz="1800" b="1">
                          <a:effectLst/>
                        </a:rPr>
                        <a:t>Component</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800" b="1">
                          <a:effectLst/>
                        </a:rPr>
                        <a:t>Options Evaluated</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800" b="1">
                          <a:effectLst/>
                        </a:rPr>
                        <a:t>Final Choice</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800" b="1">
                          <a:effectLst/>
                        </a:rPr>
                        <a:t>Reasoning</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778873727"/>
                  </a:ext>
                </a:extLst>
              </a:tr>
              <a:tr h="756194">
                <a:tc>
                  <a:txBody>
                    <a:bodyPr/>
                    <a:lstStyle/>
                    <a:p>
                      <a:pPr algn="l">
                        <a:buNone/>
                      </a:pPr>
                      <a:r>
                        <a:rPr lang="en-IN" sz="1800">
                          <a:effectLst/>
                        </a:rPr>
                        <a:t>Quantum Simulation</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QuTiP, Qiskit, ESPRESSO</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QuTiP &amp; Qiskit</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Python-integrated, flexible, scalable</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349556722"/>
                  </a:ext>
                </a:extLst>
              </a:tr>
              <a:tr h="756194">
                <a:tc>
                  <a:txBody>
                    <a:bodyPr/>
                    <a:lstStyle/>
                    <a:p>
                      <a:pPr algn="l">
                        <a:buNone/>
                      </a:pPr>
                      <a:r>
                        <a:rPr lang="en-IN" sz="1800">
                          <a:effectLst/>
                        </a:rPr>
                        <a:t>ML Framework</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PyTorch, Tensorflow, scikit-learn</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PyTorch Geometric</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GNN support, community, performance</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939506600"/>
                  </a:ext>
                </a:extLst>
              </a:tr>
              <a:tr h="756194">
                <a:tc>
                  <a:txBody>
                    <a:bodyPr/>
                    <a:lstStyle/>
                    <a:p>
                      <a:pPr algn="l">
                        <a:buNone/>
                      </a:pPr>
                      <a:r>
                        <a:rPr lang="en-IN" sz="1800">
                          <a:effectLst/>
                        </a:rPr>
                        <a:t>Agentic Platform</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Salesforce, Rasa, Botpress</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dirty="0">
                          <a:effectLst/>
                        </a:rPr>
                        <a:t>Salesforce </a:t>
                      </a:r>
                      <a:r>
                        <a:rPr lang="en-IN" sz="1800" dirty="0" err="1">
                          <a:effectLst/>
                        </a:rPr>
                        <a:t>Agentforce</a:t>
                      </a:r>
                      <a:endParaRPr lang="en-IN" sz="1800" dirty="0">
                        <a:effectLst/>
                      </a:endParaRP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Enterprise-grade, easy UI integration</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856220667"/>
                  </a:ext>
                </a:extLst>
              </a:tr>
              <a:tr h="756194">
                <a:tc>
                  <a:txBody>
                    <a:bodyPr/>
                    <a:lstStyle/>
                    <a:p>
                      <a:pPr algn="l">
                        <a:buNone/>
                      </a:pPr>
                      <a:r>
                        <a:rPr lang="en-IN" sz="1800">
                          <a:effectLst/>
                        </a:rPr>
                        <a:t>Database</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PostgreSQL, MySQL, MongoDB</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PostgreSQL</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Structured modeling, reliability</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663043648"/>
                  </a:ext>
                </a:extLst>
              </a:tr>
              <a:tr h="454164">
                <a:tc>
                  <a:txBody>
                    <a:bodyPr/>
                    <a:lstStyle/>
                    <a:p>
                      <a:pPr algn="l">
                        <a:buNone/>
                      </a:pPr>
                      <a:r>
                        <a:rPr lang="en-IN" sz="1800">
                          <a:effectLst/>
                        </a:rPr>
                        <a:t>API/Backend</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Flask, FastAPI</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Flask</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Lightweight, easy setup</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452153193"/>
                  </a:ext>
                </a:extLst>
              </a:tr>
              <a:tr h="756194">
                <a:tc>
                  <a:txBody>
                    <a:bodyPr/>
                    <a:lstStyle/>
                    <a:p>
                      <a:pPr algn="l">
                        <a:buNone/>
                      </a:pPr>
                      <a:r>
                        <a:rPr lang="en-IN" sz="1800">
                          <a:effectLst/>
                        </a:rPr>
                        <a:t>Dashboard</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Salesforce Lightning, React</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a:effectLst/>
                        </a:rPr>
                        <a:t>Salesforce Lightning</a:t>
                      </a: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800" dirty="0">
                          <a:effectLst/>
                        </a:rPr>
                        <a:t>Seamless with </a:t>
                      </a:r>
                      <a:r>
                        <a:rPr lang="en-IN" sz="1800" dirty="0" err="1">
                          <a:effectLst/>
                        </a:rPr>
                        <a:t>Agentforce</a:t>
                      </a:r>
                      <a:endParaRPr lang="en-IN" sz="1800" dirty="0">
                        <a:effectLst/>
                      </a:endParaRPr>
                    </a:p>
                  </a:txBody>
                  <a:tcPr marL="50010" marR="50010" marT="50010" marB="5001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166994088"/>
                  </a:ext>
                </a:extLst>
              </a:tr>
            </a:tbl>
          </a:graphicData>
        </a:graphic>
      </p:graphicFrame>
    </p:spTree>
    <p:extLst>
      <p:ext uri="{BB962C8B-B14F-4D97-AF65-F5344CB8AC3E}">
        <p14:creationId xmlns:p14="http://schemas.microsoft.com/office/powerpoint/2010/main" val="1788975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14C2221-2B8C-494D-9442-F812DF4E8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77BDCA-8709-8302-869B-3D41B6A530E8}"/>
              </a:ext>
            </a:extLst>
          </p:cNvPr>
          <p:cNvSpPr>
            <a:spLocks noGrp="1"/>
          </p:cNvSpPr>
          <p:nvPr>
            <p:ph type="title"/>
          </p:nvPr>
        </p:nvSpPr>
        <p:spPr>
          <a:xfrm>
            <a:off x="331694" y="3513931"/>
            <a:ext cx="3033805" cy="2601119"/>
          </a:xfrm>
        </p:spPr>
        <p:txBody>
          <a:bodyPr anchor="t">
            <a:normAutofit/>
          </a:bodyPr>
          <a:lstStyle/>
          <a:p>
            <a:pPr algn="ctr"/>
            <a:r>
              <a:rPr lang="en-US" sz="4000" dirty="0"/>
              <a:t>ML Selection Rationale</a:t>
            </a:r>
            <a:endParaRPr lang="en-IN" sz="4000" dirty="0"/>
          </a:p>
        </p:txBody>
      </p:sp>
      <p:pic>
        <p:nvPicPr>
          <p:cNvPr id="7" name="Graphic 6" descr="Fingerprint">
            <a:extLst>
              <a:ext uri="{FF2B5EF4-FFF2-40B4-BE49-F238E27FC236}">
                <a16:creationId xmlns:a16="http://schemas.microsoft.com/office/drawing/2014/main" id="{006657CB-2492-2EE6-EEC7-834857CA54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91396" y="2429669"/>
            <a:ext cx="914400" cy="914400"/>
          </a:xfrm>
          <a:prstGeom prst="rect">
            <a:avLst/>
          </a:prstGeom>
        </p:spPr>
      </p:pic>
      <p:sp>
        <p:nvSpPr>
          <p:cNvPr id="3" name="Content Placeholder 2">
            <a:extLst>
              <a:ext uri="{FF2B5EF4-FFF2-40B4-BE49-F238E27FC236}">
                <a16:creationId xmlns:a16="http://schemas.microsoft.com/office/drawing/2014/main" id="{F40653FB-E42F-01AC-3765-D6F5AA0DAF76}"/>
              </a:ext>
            </a:extLst>
          </p:cNvPr>
          <p:cNvSpPr>
            <a:spLocks noGrp="1"/>
          </p:cNvSpPr>
          <p:nvPr>
            <p:ph idx="1"/>
          </p:nvPr>
        </p:nvSpPr>
        <p:spPr>
          <a:xfrm>
            <a:off x="3697192" y="188259"/>
            <a:ext cx="8297584" cy="6400800"/>
          </a:xfrm>
        </p:spPr>
        <p:txBody>
          <a:bodyPr anchor="ctr">
            <a:normAutofit/>
          </a:bodyPr>
          <a:lstStyle/>
          <a:p>
            <a:pPr marL="0" indent="0">
              <a:buNone/>
            </a:pPr>
            <a:r>
              <a:rPr lang="en-US" sz="1500" b="1" dirty="0"/>
              <a:t>Graph Representation of Quantum Systems:</a:t>
            </a:r>
            <a:endParaRPr lang="en-IN" sz="1500" b="1" dirty="0"/>
          </a:p>
          <a:p>
            <a:pPr lvl="0"/>
            <a:r>
              <a:rPr lang="en-US" sz="1500" dirty="0"/>
              <a:t>Each quantum system (e.g., molecule, spin chain) encoded as a graph:</a:t>
            </a:r>
            <a:endParaRPr lang="en-IN" sz="1500" dirty="0"/>
          </a:p>
          <a:p>
            <a:pPr lvl="1"/>
            <a:r>
              <a:rPr lang="en-US" sz="1500" dirty="0"/>
              <a:t>Nodes: Atoms (features: element type, charge, quantum state)</a:t>
            </a:r>
            <a:endParaRPr lang="en-IN" sz="1500" dirty="0"/>
          </a:p>
          <a:p>
            <a:pPr lvl="1"/>
            <a:r>
              <a:rPr lang="en-US" sz="1500" dirty="0"/>
              <a:t>Edges: Bonds/interactions (features: bond type, distance, coupling constant)</a:t>
            </a:r>
            <a:endParaRPr lang="en-IN" sz="1500" dirty="0"/>
          </a:p>
          <a:p>
            <a:pPr marL="0" indent="0">
              <a:buNone/>
            </a:pPr>
            <a:r>
              <a:rPr lang="en-US" sz="1500" dirty="0"/>
              <a:t>So, while simpler models (Linear, MLP, SVM) provide rapid prototyping and interpretability, they are fundamentally limited in capturing the highly-interconnected, non-linear relationships present in quantum systems, especially molecules, crystals, or spin networks, which are naturally represented as graphs. GNNs, with their ability to process node and edge features, update representations via message passing, and perform efficient pooling/readout for graph-level prediction, have proven superior for this scientific context.</a:t>
            </a:r>
            <a:endParaRPr lang="en-IN" sz="1500" dirty="0"/>
          </a:p>
          <a:p>
            <a:pPr marL="0" indent="0">
              <a:buNone/>
            </a:pPr>
            <a:r>
              <a:rPr lang="en-US" sz="1500" b="1" dirty="0"/>
              <a:t>Training &amp; Evaluation:</a:t>
            </a:r>
            <a:endParaRPr lang="en-IN" sz="1500" dirty="0"/>
          </a:p>
          <a:p>
            <a:pPr lvl="0"/>
            <a:r>
              <a:rPr lang="en-US" sz="1500" dirty="0"/>
              <a:t>Data: Used publicly available quantum datasets (e.g., QM9) representing molecular graphs with labeled properties.</a:t>
            </a:r>
            <a:endParaRPr lang="en-IN" sz="1500" dirty="0"/>
          </a:p>
          <a:p>
            <a:pPr lvl="0"/>
            <a:r>
              <a:rPr lang="en-US" sz="1500" dirty="0"/>
              <a:t>Metrics: Evaluated mean absolute error (MAE), root mean squared error (RMSE), and calibration of uncertainty estimates.</a:t>
            </a:r>
            <a:endParaRPr lang="en-IN" sz="1500" dirty="0"/>
          </a:p>
          <a:p>
            <a:pPr lvl="0"/>
            <a:r>
              <a:rPr lang="en-US" sz="1500" dirty="0"/>
              <a:t>Iteration: Compared results with baseline MLPs, confirming substantial improvements for GNNs on graph-structured quantum data.</a:t>
            </a:r>
            <a:endParaRPr lang="en-IN" sz="1500" dirty="0"/>
          </a:p>
          <a:p>
            <a:pPr marL="0" indent="0">
              <a:buNone/>
            </a:pPr>
            <a:r>
              <a:rPr lang="en-US" sz="1500" b="1" dirty="0"/>
              <a:t>Deployment:</a:t>
            </a:r>
            <a:endParaRPr lang="en-IN" sz="1500" dirty="0"/>
          </a:p>
          <a:p>
            <a:pPr lvl="0"/>
            <a:r>
              <a:rPr lang="en-US" sz="1500" dirty="0"/>
              <a:t>Integrated trained GNN model into Flask backend as /</a:t>
            </a:r>
            <a:r>
              <a:rPr lang="en-US" sz="1500" dirty="0" err="1"/>
              <a:t>surrogate_predict</a:t>
            </a:r>
            <a:r>
              <a:rPr lang="en-US" sz="1500" dirty="0"/>
              <a:t> endpoint.</a:t>
            </a:r>
            <a:endParaRPr lang="en-IN" sz="1500" dirty="0"/>
          </a:p>
          <a:p>
            <a:pPr lvl="0"/>
            <a:r>
              <a:rPr lang="en-US" sz="1500" dirty="0"/>
              <a:t>Enabled real-time predictions for user-defined quantum systems/scenarios, displayed on dashboard and agentic interface.</a:t>
            </a:r>
            <a:endParaRPr lang="en-IN" sz="1500" dirty="0"/>
          </a:p>
          <a:p>
            <a:endParaRPr lang="en-IN" sz="1300" dirty="0"/>
          </a:p>
        </p:txBody>
      </p:sp>
    </p:spTree>
    <p:extLst>
      <p:ext uri="{BB962C8B-B14F-4D97-AF65-F5344CB8AC3E}">
        <p14:creationId xmlns:p14="http://schemas.microsoft.com/office/powerpoint/2010/main" val="4110605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41FA017-27E0-9A8A-CCA2-48610292B0EC}"/>
              </a:ext>
            </a:extLst>
          </p:cNvPr>
          <p:cNvSpPr>
            <a:spLocks noGrp="1"/>
          </p:cNvSpPr>
          <p:nvPr>
            <p:ph type="title"/>
          </p:nvPr>
        </p:nvSpPr>
        <p:spPr>
          <a:xfrm>
            <a:off x="1371597" y="348865"/>
            <a:ext cx="10044023" cy="877729"/>
          </a:xfrm>
        </p:spPr>
        <p:txBody>
          <a:bodyPr anchor="ctr">
            <a:normAutofit/>
          </a:bodyPr>
          <a:lstStyle/>
          <a:p>
            <a:r>
              <a:rPr lang="en-US" sz="2800">
                <a:solidFill>
                  <a:srgbClr val="FFFFFF"/>
                </a:solidFill>
              </a:rPr>
              <a:t>Surrogate Model Training using public Quantum Datasets</a:t>
            </a:r>
            <a:br>
              <a:rPr lang="en-IN" sz="2800">
                <a:solidFill>
                  <a:srgbClr val="FFFFFF"/>
                </a:solidFill>
              </a:rPr>
            </a:br>
            <a:endParaRPr lang="en-IN" sz="2800">
              <a:solidFill>
                <a:srgbClr val="FFFFFF"/>
              </a:solidFill>
            </a:endParaRPr>
          </a:p>
        </p:txBody>
      </p:sp>
      <p:graphicFrame>
        <p:nvGraphicFramePr>
          <p:cNvPr id="4" name="Content Placeholder 3">
            <a:extLst>
              <a:ext uri="{FF2B5EF4-FFF2-40B4-BE49-F238E27FC236}">
                <a16:creationId xmlns:a16="http://schemas.microsoft.com/office/drawing/2014/main" id="{2EAA947D-AFD7-20F1-8F81-E172A2DB71B5}"/>
              </a:ext>
            </a:extLst>
          </p:cNvPr>
          <p:cNvGraphicFramePr>
            <a:graphicFrameLocks noGrp="1"/>
          </p:cNvGraphicFramePr>
          <p:nvPr>
            <p:ph idx="1"/>
            <p:extLst>
              <p:ext uri="{D42A27DB-BD31-4B8C-83A1-F6EECF244321}">
                <p14:modId xmlns:p14="http://schemas.microsoft.com/office/powerpoint/2010/main" val="2940822733"/>
              </p:ext>
            </p:extLst>
          </p:nvPr>
        </p:nvGraphicFramePr>
        <p:xfrm>
          <a:off x="493060" y="1924819"/>
          <a:ext cx="11340353" cy="4584318"/>
        </p:xfrm>
        <a:graphic>
          <a:graphicData uri="http://schemas.openxmlformats.org/drawingml/2006/table">
            <a:tbl>
              <a:tblPr firstRow="1" bandRow="1"/>
              <a:tblGrid>
                <a:gridCol w="802631">
                  <a:extLst>
                    <a:ext uri="{9D8B030D-6E8A-4147-A177-3AD203B41FA5}">
                      <a16:colId xmlns:a16="http://schemas.microsoft.com/office/drawing/2014/main" val="14400442"/>
                    </a:ext>
                  </a:extLst>
                </a:gridCol>
                <a:gridCol w="2467067">
                  <a:extLst>
                    <a:ext uri="{9D8B030D-6E8A-4147-A177-3AD203B41FA5}">
                      <a16:colId xmlns:a16="http://schemas.microsoft.com/office/drawing/2014/main" val="3364063599"/>
                    </a:ext>
                  </a:extLst>
                </a:gridCol>
                <a:gridCol w="3314918">
                  <a:extLst>
                    <a:ext uri="{9D8B030D-6E8A-4147-A177-3AD203B41FA5}">
                      <a16:colId xmlns:a16="http://schemas.microsoft.com/office/drawing/2014/main" val="2440455200"/>
                    </a:ext>
                  </a:extLst>
                </a:gridCol>
                <a:gridCol w="4690971">
                  <a:extLst>
                    <a:ext uri="{9D8B030D-6E8A-4147-A177-3AD203B41FA5}">
                      <a16:colId xmlns:a16="http://schemas.microsoft.com/office/drawing/2014/main" val="1811567460"/>
                    </a:ext>
                  </a:extLst>
                </a:gridCol>
                <a:gridCol w="64766">
                  <a:extLst>
                    <a:ext uri="{9D8B030D-6E8A-4147-A177-3AD203B41FA5}">
                      <a16:colId xmlns:a16="http://schemas.microsoft.com/office/drawing/2014/main" val="814628933"/>
                    </a:ext>
                  </a:extLst>
                </a:gridCol>
              </a:tblGrid>
              <a:tr h="546959">
                <a:tc>
                  <a:txBody>
                    <a:bodyPr/>
                    <a:lstStyle/>
                    <a:p>
                      <a:pPr algn="l">
                        <a:buNone/>
                      </a:pPr>
                      <a:r>
                        <a:rPr lang="en-IN" sz="1100" b="1">
                          <a:effectLst/>
                        </a:rPr>
                        <a:t>Dataset Name</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100" b="1">
                          <a:effectLst/>
                        </a:rPr>
                        <a:t>Size</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100" b="1">
                          <a:effectLst/>
                        </a:rPr>
                        <a:t>Features / Properties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100" b="1">
                          <a:effectLst/>
                        </a:rPr>
                        <a:t>Quantum Use Cases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a:buNone/>
                      </a:pPr>
                      <a:endParaRPr lang="en-IN" sz="1100" b="1" dirty="0">
                        <a:effectLst/>
                      </a:endParaRP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154641730"/>
                  </a:ext>
                </a:extLst>
              </a:tr>
              <a:tr h="546959">
                <a:tc>
                  <a:txBody>
                    <a:bodyPr/>
                    <a:lstStyle/>
                    <a:p>
                      <a:pPr algn="l">
                        <a:buNone/>
                      </a:pPr>
                      <a:r>
                        <a:rPr lang="en-IN" sz="1100">
                          <a:effectLst/>
                        </a:rPr>
                        <a:t>QM9</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100">
                          <a:effectLst/>
                        </a:rPr>
                        <a:t>~134,000 molecules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100">
                          <a:effectLst/>
                        </a:rPr>
                        <a:t>19 quantum properties (energy, HOMO/LUMO, dipole, polarizability, etc.)</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100">
                          <a:effectLst/>
                        </a:rPr>
                        <a:t>Small molecule property prediction, screening, generative modeling, quantum chemistry GNN benchmarking</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endParaRPr lang="en-IN" sz="1100" dirty="0">
                        <a:effectLst/>
                      </a:endParaRP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762969152"/>
                  </a:ext>
                </a:extLst>
              </a:tr>
              <a:tr h="546959">
                <a:tc>
                  <a:txBody>
                    <a:bodyPr/>
                    <a:lstStyle/>
                    <a:p>
                      <a:pPr algn="l">
                        <a:buNone/>
                      </a:pPr>
                      <a:r>
                        <a:rPr lang="en-IN" sz="1100">
                          <a:effectLst/>
                        </a:rPr>
                        <a:t>QM7 &amp; QM7b</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100" dirty="0">
                          <a:effectLst/>
                        </a:rPr>
                        <a:t>~7,000 molecules (QM7), ~7,200 (QM7b)</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US" sz="1100" dirty="0">
                          <a:effectLst/>
                        </a:rPr>
                        <a:t>Atomization energies, geometric and electronic properties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US" sz="1100">
                          <a:effectLst/>
                        </a:rPr>
                        <a:t>Fast regression/prototype studies, benchmarking ML architectures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endParaRPr lang="en-IN" sz="1100" dirty="0">
                        <a:effectLst/>
                      </a:endParaRP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78340763"/>
                  </a:ext>
                </a:extLst>
              </a:tr>
              <a:tr h="546959">
                <a:tc>
                  <a:txBody>
                    <a:bodyPr/>
                    <a:lstStyle/>
                    <a:p>
                      <a:pPr algn="l">
                        <a:buNone/>
                      </a:pPr>
                      <a:r>
                        <a:rPr lang="en-IN" sz="1100">
                          <a:effectLst/>
                        </a:rPr>
                        <a:t>QMugs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100">
                          <a:effectLst/>
                        </a:rPr>
                        <a:t>~665,000 molecules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US" sz="1100">
                          <a:effectLst/>
                        </a:rPr>
                        <a:t>Quantum mechanical descriptors for pharmacologically relevant compounds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US" sz="1100">
                          <a:effectLst/>
                        </a:rPr>
                        <a:t>Drug discovery, property prediction in bio-chemistry</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endParaRPr lang="en-IN" sz="1100">
                        <a:effectLst/>
                      </a:endParaRP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388637252"/>
                  </a:ext>
                </a:extLst>
              </a:tr>
              <a:tr h="325641">
                <a:tc>
                  <a:txBody>
                    <a:bodyPr/>
                    <a:lstStyle/>
                    <a:p>
                      <a:pPr algn="l">
                        <a:buNone/>
                      </a:pPr>
                      <a:r>
                        <a:rPr lang="en-IN" sz="1100">
                          <a:effectLst/>
                        </a:rPr>
                        <a:t>QM40</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100">
                          <a:effectLst/>
                        </a:rPr>
                        <a:t>~163,000 compounds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100">
                          <a:effectLst/>
                        </a:rPr>
                        <a:t>Quantum properties from ZINC database</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100">
                          <a:effectLst/>
                        </a:rPr>
                        <a:t>High-throughput materials screening</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endParaRPr lang="en-IN" sz="1100">
                        <a:effectLst/>
                      </a:endParaRP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945375617"/>
                  </a:ext>
                </a:extLst>
              </a:tr>
              <a:tr h="325641">
                <a:tc>
                  <a:txBody>
                    <a:bodyPr/>
                    <a:lstStyle/>
                    <a:p>
                      <a:pPr algn="l">
                        <a:buNone/>
                      </a:pPr>
                      <a:r>
                        <a:rPr lang="en-IN" sz="1100">
                          <a:effectLst/>
                        </a:rPr>
                        <a:t>QCDGE</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100">
                          <a:effectLst/>
                        </a:rPr>
                        <a:t>~450,000 molecules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US" sz="1100">
                          <a:effectLst/>
                        </a:rPr>
                        <a:t>Ground and excited state properties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US" sz="1100">
                          <a:effectLst/>
                        </a:rPr>
                        <a:t>Excited state ML, spectroscopy modelling</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endParaRPr lang="en-IN" sz="1100">
                        <a:effectLst/>
                      </a:endParaRP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625247303"/>
                  </a:ext>
                </a:extLst>
              </a:tr>
              <a:tr h="325641">
                <a:tc>
                  <a:txBody>
                    <a:bodyPr/>
                    <a:lstStyle/>
                    <a:p>
                      <a:pPr algn="l">
                        <a:buNone/>
                      </a:pPr>
                      <a:r>
                        <a:rPr lang="en-IN" sz="1100">
                          <a:effectLst/>
                        </a:rPr>
                        <a:t>BDE-db</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100">
                          <a:effectLst/>
                        </a:rPr>
                        <a:t>~200,000 radicals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fr-FR" sz="1100">
                          <a:effectLst/>
                        </a:rPr>
                        <a:t>Bond dissociation energies, quantum descriptors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100">
                          <a:effectLst/>
                        </a:rPr>
                        <a:t>Radical chemistry, reaction modeling</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endParaRPr lang="en-IN" sz="1100">
                        <a:effectLst/>
                      </a:endParaRP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216313827"/>
                  </a:ext>
                </a:extLst>
              </a:tr>
              <a:tr h="325641">
                <a:tc>
                  <a:txBody>
                    <a:bodyPr/>
                    <a:lstStyle/>
                    <a:p>
                      <a:pPr algn="l">
                        <a:buNone/>
                      </a:pPr>
                      <a:r>
                        <a:rPr lang="en-IN" sz="1100">
                          <a:effectLst/>
                        </a:rPr>
                        <a:t>tmQM</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100">
                          <a:effectLst/>
                        </a:rPr>
                        <a:t>~86,000 transition metal complexes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100">
                          <a:effectLst/>
                        </a:rPr>
                        <a:t>Quantum properties, coordination geometries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US" sz="1100">
                          <a:effectLst/>
                        </a:rPr>
                        <a:t>Transition metal and catalyst modeling</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endParaRPr lang="en-IN" sz="1100">
                        <a:effectLst/>
                      </a:endParaRP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519724987"/>
                  </a:ext>
                </a:extLst>
              </a:tr>
              <a:tr h="546959">
                <a:tc>
                  <a:txBody>
                    <a:bodyPr/>
                    <a:lstStyle/>
                    <a:p>
                      <a:pPr algn="l">
                        <a:buNone/>
                      </a:pPr>
                      <a:r>
                        <a:rPr lang="en-IN" sz="1100">
                          <a:effectLst/>
                        </a:rPr>
                        <a:t>QCML</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fr-FR" sz="1100">
                          <a:effectLst/>
                        </a:rPr>
                        <a:t>~14.7 billion entries (semi-empirical), 33.5 million DFT</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fr-FR" sz="1100">
                          <a:effectLst/>
                        </a:rPr>
                        <a:t>Energies, forces, multipole moments, wavefunctions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US" sz="1100">
                          <a:effectLst/>
                        </a:rPr>
                        <a:t>General quantum property ML, force field generation, molecular dynamics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endParaRPr lang="en-IN" sz="1100">
                        <a:effectLst/>
                      </a:endParaRP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468703090"/>
                  </a:ext>
                </a:extLst>
              </a:tr>
              <a:tr h="546959">
                <a:tc>
                  <a:txBody>
                    <a:bodyPr/>
                    <a:lstStyle/>
                    <a:p>
                      <a:pPr algn="l">
                        <a:buNone/>
                      </a:pPr>
                      <a:r>
                        <a:rPr lang="en-IN" sz="1100">
                          <a:effectLst/>
                        </a:rPr>
                        <a:t>QDataSet</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US" sz="1100">
                          <a:effectLst/>
                        </a:rPr>
                        <a:t>52 one-/two-qubit systems, 10,000 samples per set</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en-IN" sz="1100">
                          <a:effectLst/>
                        </a:rPr>
                        <a:t>State vectors, Hamiltonians, measurement distributions, noise/pulse data</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r>
                        <a:rPr lang="pt-BR" sz="1100">
                          <a:effectLst/>
                        </a:rPr>
                        <a:t>Quantum control, quantum tomography, noise spectroscopy, gate errors</a:t>
                      </a: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tc>
                  <a:txBody>
                    <a:bodyPr/>
                    <a:lstStyle/>
                    <a:p>
                      <a:pPr algn="l">
                        <a:buNone/>
                      </a:pPr>
                      <a:endParaRPr lang="en-IN" sz="1100" dirty="0">
                        <a:effectLst/>
                      </a:endParaRPr>
                    </a:p>
                  </a:txBody>
                  <a:tcPr marL="19683" marR="19683" marT="19683" marB="19683"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631231032"/>
                  </a:ext>
                </a:extLst>
              </a:tr>
            </a:tbl>
          </a:graphicData>
        </a:graphic>
      </p:graphicFrame>
    </p:spTree>
    <p:extLst>
      <p:ext uri="{BB962C8B-B14F-4D97-AF65-F5344CB8AC3E}">
        <p14:creationId xmlns:p14="http://schemas.microsoft.com/office/powerpoint/2010/main" val="626503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EE74DC-C960-7C35-3D1F-7B0DD3ACB0A3}"/>
              </a:ext>
            </a:extLst>
          </p:cNvPr>
          <p:cNvSpPr>
            <a:spLocks noGrp="1"/>
          </p:cNvSpPr>
          <p:nvPr>
            <p:ph type="title"/>
          </p:nvPr>
        </p:nvSpPr>
        <p:spPr>
          <a:xfrm>
            <a:off x="1377697" y="429009"/>
            <a:ext cx="9895951" cy="1033669"/>
          </a:xfrm>
        </p:spPr>
        <p:txBody>
          <a:bodyPr>
            <a:normAutofit/>
          </a:bodyPr>
          <a:lstStyle/>
          <a:p>
            <a:pPr algn="ctr"/>
            <a:r>
              <a:rPr lang="en-US" sz="3400" dirty="0">
                <a:solidFill>
                  <a:srgbClr val="FFFFFF"/>
                </a:solidFill>
              </a:rPr>
              <a:t>Implementation in the Prototype</a:t>
            </a:r>
            <a:br>
              <a:rPr lang="en-IN" sz="3400" dirty="0">
                <a:solidFill>
                  <a:srgbClr val="FFFFFF"/>
                </a:solidFill>
              </a:rPr>
            </a:br>
            <a:endParaRPr lang="en-IN" sz="3400" dirty="0">
              <a:solidFill>
                <a:srgbClr val="FFFFFF"/>
              </a:solidFill>
            </a:endParaRPr>
          </a:p>
        </p:txBody>
      </p:sp>
      <p:sp>
        <p:nvSpPr>
          <p:cNvPr id="3" name="Content Placeholder 2">
            <a:extLst>
              <a:ext uri="{FF2B5EF4-FFF2-40B4-BE49-F238E27FC236}">
                <a16:creationId xmlns:a16="http://schemas.microsoft.com/office/drawing/2014/main" id="{3FE6697B-9237-7790-C59B-5629E36C2493}"/>
              </a:ext>
            </a:extLst>
          </p:cNvPr>
          <p:cNvSpPr>
            <a:spLocks noGrp="1"/>
          </p:cNvSpPr>
          <p:nvPr>
            <p:ph idx="1"/>
          </p:nvPr>
        </p:nvSpPr>
        <p:spPr>
          <a:xfrm>
            <a:off x="459346" y="1590740"/>
            <a:ext cx="11517501" cy="4972721"/>
          </a:xfrm>
        </p:spPr>
        <p:txBody>
          <a:bodyPr anchor="ctr">
            <a:normAutofit/>
          </a:bodyPr>
          <a:lstStyle/>
          <a:p>
            <a:pPr marL="0" indent="0">
              <a:buNone/>
            </a:pPr>
            <a:r>
              <a:rPr lang="en-US" sz="1900" dirty="0"/>
              <a:t>By selecting a dataset, our GNN model is trained to predict a wide range of molecular quantum properties. The training process involves:</a:t>
            </a:r>
            <a:endParaRPr lang="en-IN" sz="1900" dirty="0"/>
          </a:p>
          <a:p>
            <a:pPr lvl="0"/>
            <a:r>
              <a:rPr lang="en-US" sz="1900" b="1" dirty="0"/>
              <a:t>Step 1:</a:t>
            </a:r>
            <a:r>
              <a:rPr lang="en-US" sz="1900" dirty="0"/>
              <a:t> Loading the dataset</a:t>
            </a:r>
            <a:endParaRPr lang="en-IN" sz="1900" dirty="0"/>
          </a:p>
          <a:p>
            <a:pPr lvl="0"/>
            <a:r>
              <a:rPr lang="en-US" sz="1900" b="1" dirty="0"/>
              <a:t>Step 2:</a:t>
            </a:r>
            <a:r>
              <a:rPr lang="en-US" sz="1900" dirty="0"/>
              <a:t> Constructing graph representations for each molecule (nodes = atoms with features; edges = bonds/interactions).</a:t>
            </a:r>
            <a:endParaRPr lang="en-IN" sz="1900" dirty="0"/>
          </a:p>
          <a:p>
            <a:pPr lvl="0"/>
            <a:r>
              <a:rPr lang="en-US" sz="1900" b="1" dirty="0"/>
              <a:t>Step 3:</a:t>
            </a:r>
            <a:r>
              <a:rPr lang="en-US" sz="1900" dirty="0"/>
              <a:t> Building and training the GNN, validating accuracy on held-out molecular structures.</a:t>
            </a:r>
            <a:endParaRPr lang="en-IN" sz="1900" dirty="0"/>
          </a:p>
          <a:p>
            <a:pPr lvl="0"/>
            <a:r>
              <a:rPr lang="en-US" sz="1900" b="1" dirty="0"/>
              <a:t>Step 4:</a:t>
            </a:r>
            <a:r>
              <a:rPr lang="en-US" sz="1900" dirty="0"/>
              <a:t> Deploying the trained surrogate model as a backend API, enabling instant property prediction as a part of the conversational agent workflow.</a:t>
            </a:r>
            <a:endParaRPr lang="en-IN" sz="1900" dirty="0"/>
          </a:p>
          <a:p>
            <a:pPr lvl="0"/>
            <a:r>
              <a:rPr lang="en-US" sz="1900" b="1" dirty="0"/>
              <a:t>Step 5: </a:t>
            </a:r>
            <a:r>
              <a:rPr lang="en-US" sz="1900" dirty="0"/>
              <a:t>If possible, testing the model’s capability for other for broader use cases, and benchmarking against traditional simulation outputs.</a:t>
            </a:r>
            <a:endParaRPr lang="en-IN" sz="1900" dirty="0"/>
          </a:p>
          <a:p>
            <a:endParaRPr lang="en-IN" sz="1900" dirty="0"/>
          </a:p>
        </p:txBody>
      </p:sp>
    </p:spTree>
    <p:extLst>
      <p:ext uri="{BB962C8B-B14F-4D97-AF65-F5344CB8AC3E}">
        <p14:creationId xmlns:p14="http://schemas.microsoft.com/office/powerpoint/2010/main" val="1313791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Rectangle 1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BFBAA6-7CD9-DB0F-4C68-11781E0E4859}"/>
              </a:ext>
            </a:extLst>
          </p:cNvPr>
          <p:cNvSpPr>
            <a:spLocks noGrp="1"/>
          </p:cNvSpPr>
          <p:nvPr>
            <p:ph type="title"/>
          </p:nvPr>
        </p:nvSpPr>
        <p:spPr>
          <a:xfrm>
            <a:off x="2328003" y="338932"/>
            <a:ext cx="7091300" cy="898581"/>
          </a:xfrm>
        </p:spPr>
        <p:txBody>
          <a:bodyPr vert="horz" lIns="91440" tIns="45720" rIns="91440" bIns="45720" rtlCol="0" anchor="ctr">
            <a:normAutofit/>
          </a:bodyPr>
          <a:lstStyle/>
          <a:p>
            <a:pPr algn="ctr"/>
            <a:r>
              <a:rPr lang="en-US" sz="4000" dirty="0">
                <a:solidFill>
                  <a:srgbClr val="FFFFFF"/>
                </a:solidFill>
              </a:rPr>
              <a:t>Screenshot of sample code</a:t>
            </a:r>
          </a:p>
        </p:txBody>
      </p:sp>
      <p:pic>
        <p:nvPicPr>
          <p:cNvPr id="4" name="Content Placeholder 3" descr="A screenshot of a computer program&#10;&#10;AI-generated content may be incorrect.">
            <a:extLst>
              <a:ext uri="{FF2B5EF4-FFF2-40B4-BE49-F238E27FC236}">
                <a16:creationId xmlns:a16="http://schemas.microsoft.com/office/drawing/2014/main" id="{CF483D5E-52C7-D4FA-4029-6A03FA5762B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203661" y="2232212"/>
            <a:ext cx="6624766" cy="3908612"/>
          </a:xfrm>
          <a:prstGeom prst="rect">
            <a:avLst/>
          </a:prstGeom>
          <a:noFill/>
        </p:spPr>
      </p:pic>
      <p:pic>
        <p:nvPicPr>
          <p:cNvPr id="5" name="Picture 4" descr="A screenshot of a computer&#10;&#10;AI-generated content may be incorrect.">
            <a:extLst>
              <a:ext uri="{FF2B5EF4-FFF2-40B4-BE49-F238E27FC236}">
                <a16:creationId xmlns:a16="http://schemas.microsoft.com/office/drawing/2014/main" id="{CB72F42D-2482-E098-BDF5-89024273DD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7032088" y="2232212"/>
            <a:ext cx="4774430" cy="3903096"/>
          </a:xfrm>
          <a:prstGeom prst="rect">
            <a:avLst/>
          </a:prstGeom>
          <a:noFill/>
        </p:spPr>
      </p:pic>
    </p:spTree>
    <p:extLst>
      <p:ext uri="{BB962C8B-B14F-4D97-AF65-F5344CB8AC3E}">
        <p14:creationId xmlns:p14="http://schemas.microsoft.com/office/powerpoint/2010/main" val="606706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A6188C38-4C0A-7C78-2FF6-39EB62252E81}"/>
              </a:ext>
            </a:extLst>
          </p:cNvPr>
          <p:cNvSpPr>
            <a:spLocks noGrp="1"/>
          </p:cNvSpPr>
          <p:nvPr>
            <p:ph idx="1"/>
          </p:nvPr>
        </p:nvSpPr>
        <p:spPr>
          <a:xfrm>
            <a:off x="295275" y="1825625"/>
            <a:ext cx="11896725" cy="4351338"/>
          </a:xfrm>
        </p:spPr>
        <p:txBody>
          <a:bodyPr>
            <a:normAutofit fontScale="92500" lnSpcReduction="10000"/>
          </a:bodyPr>
          <a:lstStyle/>
          <a:p>
            <a:pPr marL="457200" indent="-457200">
              <a:buFont typeface="+mj-lt"/>
              <a:buAutoNum type="arabicPeriod"/>
            </a:pPr>
            <a:r>
              <a:rPr lang="en-IN" sz="2400" dirty="0">
                <a:hlinkClick r:id="rId2"/>
              </a:rPr>
              <a:t>https://www.geeksforgeeks.org/machine-learning/neural-networks-a-beginners-guide/</a:t>
            </a:r>
          </a:p>
          <a:p>
            <a:pPr marL="457200" indent="-457200">
              <a:buFont typeface="+mj-lt"/>
              <a:buAutoNum type="arabicPeriod"/>
            </a:pPr>
            <a:r>
              <a:rPr lang="en-IN" sz="2400" dirty="0">
                <a:hlinkClick r:id="rId3"/>
              </a:rPr>
              <a:t>https://news.skhynix.com/all-about-ai-the-origins-evolution-future-of-ai/</a:t>
            </a:r>
            <a:endParaRPr lang="en-IN" sz="2400" dirty="0"/>
          </a:p>
          <a:p>
            <a:pPr marL="457200" indent="-457200">
              <a:buFont typeface="+mj-lt"/>
              <a:buAutoNum type="arabicPeriod"/>
            </a:pPr>
            <a:r>
              <a:rPr lang="en-US" sz="2400" dirty="0"/>
              <a:t>Carleo, G., &amp; Troyer, M. (2017). Solving the quantum many-body problem with artificial neural networks. </a:t>
            </a:r>
            <a:r>
              <a:rPr lang="en-US" sz="2400" i="1" dirty="0"/>
              <a:t>Science</a:t>
            </a:r>
            <a:r>
              <a:rPr lang="en-US" sz="2400" dirty="0"/>
              <a:t>, </a:t>
            </a:r>
            <a:r>
              <a:rPr lang="en-US" sz="2400" i="1" dirty="0"/>
              <a:t>355</a:t>
            </a:r>
            <a:r>
              <a:rPr lang="en-US" sz="2400" dirty="0"/>
              <a:t>(6325), 602-606.</a:t>
            </a:r>
          </a:p>
          <a:p>
            <a:pPr marL="457200" indent="-457200">
              <a:buFont typeface="+mj-lt"/>
              <a:buAutoNum type="arabicPeriod"/>
            </a:pPr>
            <a:r>
              <a:rPr lang="en-IN" sz="2400" dirty="0">
                <a:hlinkClick r:id="rId2"/>
              </a:rPr>
              <a:t>https://doi.org/10.48550/arXiv.2509.09915</a:t>
            </a:r>
          </a:p>
          <a:p>
            <a:pPr marL="457200" indent="-457200">
              <a:buFont typeface="+mj-lt"/>
              <a:buAutoNum type="arabicPeriod"/>
            </a:pPr>
            <a:r>
              <a:rPr lang="en-IN" sz="2400" dirty="0">
                <a:hlinkClick r:id="rId2"/>
              </a:rPr>
              <a:t>https://elagente.ca/ </a:t>
            </a:r>
          </a:p>
          <a:p>
            <a:pPr marL="457200" indent="-457200">
              <a:buFont typeface="+mj-lt"/>
              <a:buAutoNum type="arabicPeriod"/>
            </a:pPr>
            <a:r>
              <a:rPr lang="en-IN" sz="2400" dirty="0">
                <a:hlinkClick r:id="rId2"/>
              </a:rPr>
              <a:t>https://www.cell.com/matter/fulltext/S2590-2385(25)00306-6</a:t>
            </a:r>
          </a:p>
          <a:p>
            <a:pPr marL="457200" indent="-457200">
              <a:buFont typeface="+mj-lt"/>
              <a:buAutoNum type="arabicPeriod"/>
            </a:pPr>
            <a:r>
              <a:rPr lang="en-IN" sz="2400" dirty="0">
                <a:hlinkClick r:id="rId2"/>
              </a:rPr>
              <a:t>https://www.uibk.ac.at/en/th-physik/qic-group/research/ai-and-science/</a:t>
            </a:r>
          </a:p>
          <a:p>
            <a:pPr marL="457200" indent="-457200">
              <a:buFont typeface="+mj-lt"/>
              <a:buAutoNum type="arabicPeriod"/>
            </a:pPr>
            <a:r>
              <a:rPr lang="en-IN" sz="2400" dirty="0">
                <a:hlinkClick r:id="rId4"/>
              </a:rPr>
              <a:t>https://www.spinquanta.com/news-detail/spinq-quantum-artificial-intelligence-lab-research-project-overview</a:t>
            </a:r>
            <a:endParaRPr lang="en-IN" sz="2400" dirty="0"/>
          </a:p>
          <a:p>
            <a:pPr marL="457200" indent="-457200">
              <a:buFont typeface="+mj-lt"/>
              <a:buAutoNum type="arabicPeriod"/>
            </a:pPr>
            <a:r>
              <a:rPr lang="en-IN" sz="2400" dirty="0">
                <a:hlinkClick r:id="rId5"/>
              </a:rPr>
              <a:t>https://medium.com/@mihir473/simulating-quantum-systems-with-qutip-a-deep-dive-c3daf829b05f</a:t>
            </a:r>
            <a:endParaRPr lang="en-IN" sz="2400"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2724917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lstStyle/>
          <a:p>
            <a:r>
              <a:rPr lang="en-IN" dirty="0"/>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1208</TotalTime>
  <Words>1759</Words>
  <Application>Microsoft Office PowerPoint</Application>
  <PresentationFormat>Widescreen</PresentationFormat>
  <Paragraphs>285</Paragraphs>
  <Slides>18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AI-Assisted  Quantum Simulation &amp; Modelling  using Agentic AI</vt:lpstr>
      <vt:lpstr>Introduction</vt:lpstr>
      <vt:lpstr>PowerPoint Presentation</vt:lpstr>
      <vt:lpstr>Research my model builds on</vt:lpstr>
      <vt:lpstr>Literature Review</vt:lpstr>
      <vt:lpstr>Problem Statement</vt:lpstr>
      <vt:lpstr>Proposed Solution</vt:lpstr>
      <vt:lpstr>Proposed Solution-Phases</vt:lpstr>
      <vt:lpstr>Objectives</vt:lpstr>
      <vt:lpstr>Comparitive Study</vt:lpstr>
      <vt:lpstr>Project Workflow</vt:lpstr>
      <vt:lpstr>Technology Selection</vt:lpstr>
      <vt:lpstr>ML Selection Rationale</vt:lpstr>
      <vt:lpstr>Surrogate Model Training using public Quantum Datasets </vt:lpstr>
      <vt:lpstr>Implementation in the Prototype </vt:lpstr>
      <vt:lpstr>Screenshot of sample code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Shriya Desai [CSE - 2024]</cp:lastModifiedBy>
  <cp:revision>2</cp:revision>
  <dcterms:created xsi:type="dcterms:W3CDTF">2025-09-29T05:03:41Z</dcterms:created>
  <dcterms:modified xsi:type="dcterms:W3CDTF">2026-02-14T08:00:39Z</dcterms:modified>
</cp:coreProperties>
</file>